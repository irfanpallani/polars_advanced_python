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4CBDDCF-4876-C663-1C27-B5EB0EC604EF}">
          <p14:sldIdLst>
            <p14:sldId id="256"/>
          </p14:sldIdLst>
        </p14:section>
        <p14:section name="Innehåll" id="{BDFD2C1B-0D2B-26B6-5662-45F1A4F03137}">
          <p14:sldIdLst>
            <p14:sldId id="257"/>
            <p14:sldId id="258"/>
            <p14:sldId id="259"/>
            <p14:sldId id="260"/>
            <p14:sldId id="261"/>
          </p14:sldIdLst>
        </p14:section>
        <p14:section name="Avslut" id="{0642778E-2122-7ABA-6867-C2E52B827E9B}">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80"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v-SE"/>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r>
              <a:rPr lang="sv-SE"/>
              <a:t>Tid i sekunder (lägre är bättre)</a:t>
            </a:r>
          </a:p>
        </c:rich>
      </c:tx>
      <c:overlay val="0"/>
      <c:spPr>
        <a:noFill/>
        <a:ln>
          <a:noFill/>
        </a:ln>
        <a:effectLst/>
      </c:spPr>
    </c:title>
    <c:autoTitleDeleted val="0"/>
    <c:plotArea>
      <c:layout/>
      <c:barChart>
        <c:barDir val="col"/>
        <c:grouping val="clustered"/>
        <c:varyColors val="0"/>
        <c:ser>
          <c:idx val="0"/>
          <c:order val="0"/>
          <c:tx>
            <c:strRef>
              <c:f>Sheet1!$B$1</c:f>
              <c:strCache>
                <c:ptCount val="1"/>
                <c:pt idx="0">
                  <c:v>Tid (s)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0"/>
            <c:invertIfNegative val="0"/>
            <c:bubble3D val="0"/>
            <c:extLst>
              <c:ext xmlns:c16="http://schemas.microsoft.com/office/drawing/2014/chart" uri="{C3380CC4-5D6E-409C-BE32-E72D297353CC}">
                <c16:uniqueId val="{00000001-E3D0-4C17-BC69-B329C6E679AC}"/>
              </c:ext>
            </c:extLst>
          </c:dPt>
          <c:dPt>
            <c:idx val="1"/>
            <c:invertIfNegative val="0"/>
            <c:bubble3D val="0"/>
            <c:extLst>
              <c:ext xmlns:c16="http://schemas.microsoft.com/office/drawing/2014/chart" uri="{C3380CC4-5D6E-409C-BE32-E72D297353CC}">
                <c16:uniqueId val="{00000003-E3D0-4C17-BC69-B329C6E679AC}"/>
              </c:ext>
            </c:extLst>
          </c:dPt>
          <c:dPt>
            <c:idx val="2"/>
            <c:invertIfNegative val="0"/>
            <c:bubble3D val="0"/>
            <c:extLst>
              <c:ext xmlns:c16="http://schemas.microsoft.com/office/drawing/2014/chart" uri="{C3380CC4-5D6E-409C-BE32-E72D297353CC}">
                <c16:uniqueId val="{00000005-E3D0-4C17-BC69-B329C6E679A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gradFill>
                      <a:gsLst>
                        <a:gs pos="0">
                          <a:schemeClr val="accent1">
                            <a:lumMod val="5000"/>
                            <a:lumOff val="95000"/>
                          </a:schemeClr>
                        </a:gs>
                        <a:gs pos="0">
                          <a:srgbClr val="92D050"/>
                        </a:gs>
                        <a:gs pos="0">
                          <a:schemeClr val="accent1">
                            <a:lumMod val="30000"/>
                            <a:lumOff val="70000"/>
                          </a:schemeClr>
                        </a:gs>
                      </a:gsLst>
                      <a:lin ang="5400000" scaled="1"/>
                    </a:gradFill>
                    <a:latin typeface="+mn-lt"/>
                    <a:ea typeface="+mn-ea"/>
                    <a:cs typeface="+mn-cs"/>
                  </a:defRPr>
                </a:pPr>
                <a:endParaRPr lang="sv-S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Sheet1!$A$2:$A$4</c:f>
              <c:strCache>
                <c:ptCount val="3"/>
                <c:pt idx="0">
                  <c:v>Pandas</c:v>
                </c:pt>
                <c:pt idx="1">
                  <c:v>Polars (eager)</c:v>
                </c:pt>
                <c:pt idx="2">
                  <c:v>Polars (lazy)</c:v>
                </c:pt>
              </c:strCache>
            </c:strRef>
          </c:cat>
          <c:val>
            <c:numRef>
              <c:f>Sheet1!$B$2:$B$4</c:f>
              <c:numCache>
                <c:formatCode>General</c:formatCode>
                <c:ptCount val="3"/>
                <c:pt idx="0">
                  <c:v>2.657</c:v>
                </c:pt>
                <c:pt idx="1">
                  <c:v>0.19800000000000001</c:v>
                </c:pt>
                <c:pt idx="2">
                  <c:v>0.26100000000000001</c:v>
                </c:pt>
              </c:numCache>
            </c:numRef>
          </c:val>
          <c:extLst>
            <c:ext xmlns:c16="http://schemas.microsoft.com/office/drawing/2014/chart" uri="{C3380CC4-5D6E-409C-BE32-E72D297353CC}">
              <c16:uniqueId val="{00000006-E3D0-4C17-BC69-B329C6E679AC}"/>
            </c:ext>
          </c:extLst>
        </c:ser>
        <c:dLbls>
          <c:dLblPos val="outEnd"/>
          <c:showLegendKey val="0"/>
          <c:showVal val="1"/>
          <c:showCatName val="0"/>
          <c:showSerName val="0"/>
          <c:showPercent val="0"/>
          <c:showBubbleSize val="0"/>
        </c:dLbls>
        <c:gapWidth val="100"/>
        <c:overlap val="-24"/>
        <c:axId val="2094734554"/>
        <c:axId val="2094734552"/>
      </c:barChart>
      <c:catAx>
        <c:axId val="2094734554"/>
        <c:scaling>
          <c:orientation val="minMax"/>
        </c:scaling>
        <c:delete val="0"/>
        <c:axPos val="b"/>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1197" b="0" i="0" u="none" strike="noStrike" kern="1200" baseline="0">
                <a:gradFill>
                  <a:gsLst>
                    <a:gs pos="0">
                      <a:schemeClr val="accent1">
                        <a:lumMod val="5000"/>
                        <a:lumOff val="95000"/>
                      </a:schemeClr>
                    </a:gs>
                    <a:gs pos="0">
                      <a:srgbClr val="92D050"/>
                    </a:gs>
                    <a:gs pos="0">
                      <a:schemeClr val="accent1">
                        <a:lumMod val="30000"/>
                        <a:lumOff val="70000"/>
                      </a:schemeClr>
                    </a:gs>
                  </a:gsLst>
                  <a:lin ang="5400000" scaled="1"/>
                </a:gradFill>
                <a:latin typeface="+mn-lt"/>
                <a:ea typeface="+mn-ea"/>
                <a:cs typeface="+mn-cs"/>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9525" cap="flat" cmpd="sng" algn="ctr">
              <a:solidFill>
                <a:schemeClr val="lt1">
                  <a:lumMod val="95000"/>
                  <a:alpha val="10000"/>
                </a:schemeClr>
              </a:solidFill>
              <a:round/>
            </a:ln>
            <a:effectLst/>
          </c:spPr>
        </c:majorGridlines>
        <c:numFmt formatCode="General"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gradFill>
                  <a:gsLst>
                    <a:gs pos="0">
                      <a:schemeClr val="accent1">
                        <a:lumMod val="5000"/>
                        <a:lumOff val="95000"/>
                      </a:schemeClr>
                    </a:gs>
                    <a:gs pos="0">
                      <a:srgbClr val="92D050"/>
                    </a:gs>
                    <a:gs pos="0">
                      <a:schemeClr val="accent1">
                        <a:lumMod val="30000"/>
                        <a:lumOff val="70000"/>
                      </a:schemeClr>
                    </a:gs>
                  </a:gsLst>
                  <a:lin ang="5400000" scaled="1"/>
                </a:gradFill>
                <a:latin typeface="+mn-lt"/>
                <a:ea typeface="+mn-ea"/>
                <a:cs typeface="+mn-cs"/>
              </a:defRPr>
            </a:pPr>
            <a:endParaRPr lang="sv-SE"/>
          </a:p>
        </c:txPr>
        <c:crossAx val="2094734554"/>
        <c:crosses val="autoZero"/>
        <c:crossBetween val="between"/>
      </c:valAx>
      <c:dTable>
        <c:showHorzBorder val="1"/>
        <c:showVertBorder val="1"/>
        <c:showOutline val="1"/>
        <c:showKeys val="1"/>
      </c:dTable>
      <c:spPr>
        <a:noFill/>
        <a:ln>
          <a:noFill/>
        </a:ln>
        <a:effectLst/>
      </c:spPr>
    </c:plotArea>
    <c:plotVisOnly val="1"/>
    <c:dispBlanksAs val="span"/>
    <c:showDLblsOverMax val="1"/>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gradFill>
            <a:gsLst>
              <a:gs pos="0">
                <a:schemeClr val="accent1">
                  <a:lumMod val="5000"/>
                  <a:lumOff val="95000"/>
                </a:schemeClr>
              </a:gs>
              <a:gs pos="0">
                <a:srgbClr val="92D050"/>
              </a:gs>
              <a:gs pos="0">
                <a:schemeClr val="accent1">
                  <a:lumMod val="30000"/>
                  <a:lumOff val="70000"/>
                </a:schemeClr>
              </a:gs>
            </a:gsLst>
            <a:lin ang="5400000" scaled="1"/>
          </a:gradFill>
        </a:defRPr>
      </a:pPr>
      <a:endParaRPr lang="sv-SE"/>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574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Hej! Jag heter Irfan och min fördjupning handlar om Polars. Det är ett bibliotek i Python för att jobba med tabeller, ungefär som Pandas. Frågan jag ville svara på är enkel: är Polars verkligen snabbare än Pandas? Och om det stämmer, varför?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Jag valde Polars för att vi mest har kört Pandas i kursen, men jag har hört många gånger att Polars ska vara snabbare. Så jag ville testa själv. Jag hade tre mål. Först lära mig grunderna: läsa in en fil, filtrera, sortera och gruppera. Sedan förstå varför det går snabbt. Och till sist göra en egen jämförelse på en miljon rader. Det här är relevant för en data scientist, eftersom vi ofta jobbar med stora tabeller, och då spelar det roll hur lång tid det tar. Jag har själv en bakgrund från elnätet, där mätdata snabbt blir väldigt stor, så det kändes extra intressant.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Det finns fyra begrepp som förklarar varför Polars är snabbt. Det första är kolumnbaserad lagring. Polars bygger på Apache Arrow, och då ligger datan kolumn för kolumn i minnet. Om jag vill ha medelvärdet av en kolumn behöver datorn bara läsa just den kolumnen. Det andra är multi-threading. Polars använder flera kärnor i processorn samtidigt, utan att jag behöver skriva någon extra kod. Pandas kör i stort sett på en kärna. Det tredje är lazy evaluation. Då skriver jag hela frågan först, och Polars gör en plan och optimerar den innan något körs. Den kan till exempel läsa in bara de kolumner som behövs. Det fjärde är striktare typning. Polars är noggrannare med datatyper, så det blir färre överraskningar.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Så vad byggde jag? Jag gjorde en syntetisk datamängd med elförbrukning, 5 475 rader. Det är fem städer, tre sektorer och ett helt år, 2025. Jag la in några saknade värden i temperaturen med flit, för att öva på att hantera dem. Sedan gick jag igenom sex steg: läsa in filen, filtrera och sortera, skapa nya kolumner, gruppera och summera, testa lazy, och till sist jämföra med Pandas på en miljon rader.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Här är en viktig del av koden. Det är samma uppgift i båda biblioteken: total förbrukning per region. Överst är Polars. Jag grupperar på region med group_by. Sedan säger jag i agg att jag vill ha summan av kolumnen forbrukning_kwh, och jag döper den till total_kwh. Till sist sorterar jag med störst först. pl.col betyder att jag pekar ut en kolumn, och det använder man överallt i Polars. Under ser ni Pandas. Där måste jag lägga till reset_index för att få tillbaka region som en vanlig kolumn. Det behövs inte i Polars. Resultatet blev exakt detsamma. Stockholm ligger högst med cirka 470 000 kilowattimmar.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Nu kommer jämförelsen. Jag skapade en fil med en miljon rader slumpade värden och mätte hur lång tid det tog att läsa in, filtrera och gruppera. Pandas tog 2,7 sekunder. Polars tog 0,2 sekunder, alltså ungefär 13 gånger snabbare. Med lazy tog det 0,26 sekunder, ungefär 10 gånger snabbare. Lazy blev alltså lite långsammare än vanliga Polars i mitt test. Jag tror att det beror på att frågan är så enkel och filen så liten att planeringen inte hinner ge någon vinst, men det är bara min gissning. Jag körde varje test bara en gång, så det här är inget exakt test.</a:t>
            </a:r>
          </a:p>
          <a:p>
            <a:endParaRPr/>
          </a:p>
          <a:p>
            <a:r>
              <a:t>[DEMO (ca 20 sek, välj en): Visa i notebooken cellen med sammanfattningen av tiderna (13,4x och 10,2x), eller cellen med lazy_query.explain(). Kör inte cellen som skapar miljonfilen live, den tar för lång tid. Visa den sparade utskriften.]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Vad lärde jag mig? Jag kan nu grunderna: läsa in, filtrera, sortera och gruppera. Jag har lärt mig tänka i uttryck med pl.col, och jag förstår principen bakom lazy evaluation. Det svåraste var just lazy, för det är ett nytt sätt att tänka jämfört med Pandas. Begränsningarna är att datan är syntetisk, att jag bara körde varje test en gång och att jag höll mig till grunderna. Jag har till exempel inte testat riktigt stora filer eller streaming. Det vore ett naturligt nästa steg, gärna med riktig data om elförbrukning. Tack för att ni lyssnade. Har ni några frågor?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188720"/>
            <a:ext cx="5303520" cy="164592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336204" y="474898"/>
            <a:ext cx="5303520" cy="1645920"/>
          </a:xfrm>
          <a:prstGeom prst="rect">
            <a:avLst/>
          </a:prstGeom>
          <a:noFill/>
          <a:ln/>
        </p:spPr>
        <p:txBody>
          <a:bodyPr wrap="square" lIns="0" tIns="0" rIns="0" bIns="0" rtlCol="0" anchor="b"/>
          <a:lstStyle/>
          <a:p>
            <a:pPr marL="0" indent="0" algn="l">
              <a:buNone/>
            </a:pPr>
            <a:r>
              <a:rPr lang="en-US" sz="4400" b="1" dirty="0">
                <a:solidFill>
                  <a:schemeClr val="bg1"/>
                </a:solidFill>
              </a:rPr>
              <a:t>Fördjupning i Polars</a:t>
            </a:r>
            <a:endParaRPr lang="en-US" sz="4400" dirty="0"/>
          </a:p>
        </p:txBody>
      </p:sp>
      <p:sp>
        <p:nvSpPr>
          <p:cNvPr id="3" name="Undertitel"/>
          <p:cNvSpPr txBox="1"/>
          <p:nvPr/>
        </p:nvSpPr>
        <p:spPr>
          <a:xfrm>
            <a:off x="1336204" y="3035957"/>
            <a:ext cx="5303520" cy="457200"/>
          </a:xfrm>
          <a:prstGeom prst="rect">
            <a:avLst/>
          </a:prstGeom>
          <a:noFill/>
          <a:ln/>
        </p:spPr>
        <p:txBody>
          <a:bodyPr wrap="square" lIns="0" tIns="0" rIns="0" bIns="0" rtlCol="0" anchor="ctr"/>
          <a:lstStyle/>
          <a:p>
            <a:pPr marL="0" indent="0">
              <a:buNone/>
            </a:pPr>
            <a:r>
              <a:rPr lang="en-US" sz="2400" dirty="0">
                <a:solidFill>
                  <a:srgbClr val="FFC000"/>
                </a:solidFill>
              </a:rPr>
              <a:t>Är det verkligen snabbare än Pandas?</a:t>
            </a:r>
          </a:p>
        </p:txBody>
      </p:sp>
      <p:sp>
        <p:nvSpPr>
          <p:cNvPr id="4" name="Avsändare"/>
          <p:cNvSpPr txBox="1"/>
          <p:nvPr/>
        </p:nvSpPr>
        <p:spPr>
          <a:xfrm>
            <a:off x="640080" y="4023360"/>
            <a:ext cx="5943600" cy="365760"/>
          </a:xfrm>
          <a:prstGeom prst="rect">
            <a:avLst/>
          </a:prstGeom>
          <a:noFill/>
          <a:ln/>
        </p:spPr>
        <p:txBody>
          <a:bodyPr wrap="square" lIns="0" tIns="0" rIns="0" bIns="0" rtlCol="0" anchor="ctr"/>
          <a:lstStyle/>
          <a:p>
            <a:pPr lvl="1"/>
            <a:r>
              <a:rPr lang="en-US" sz="1400" i="1" dirty="0">
                <a:solidFill>
                  <a:schemeClr val="bg2"/>
                </a:solidFill>
              </a:rPr>
              <a:t>Irfan  ·  Avancerad Python för Data Scientist  ·  EC Utbildning</a:t>
            </a:r>
            <a:endParaRPr lang="en-US" sz="14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200" b="1" dirty="0" err="1">
                <a:solidFill>
                  <a:schemeClr val="bg1"/>
                </a:solidFill>
              </a:rPr>
              <a:t>Varför</a:t>
            </a:r>
            <a:r>
              <a:rPr lang="en-US" sz="3200" b="1" dirty="0">
                <a:solidFill>
                  <a:schemeClr val="bg1"/>
                </a:solidFill>
              </a:rPr>
              <a:t> Polars?</a:t>
            </a:r>
            <a:endParaRPr lang="en-US" sz="3200" dirty="0">
              <a:solidFill>
                <a:schemeClr val="bg1"/>
              </a:solidFill>
            </a:endParaRPr>
          </a:p>
        </p:txBody>
      </p:sp>
      <p:sp>
        <p:nvSpPr>
          <p:cNvPr id="3" name="Frågepanel"/>
          <p:cNvSpPr/>
          <p:nvPr/>
        </p:nvSpPr>
        <p:spPr>
          <a:xfrm>
            <a:off x="548640" y="1371600"/>
            <a:ext cx="3291840" cy="3200400"/>
          </a:xfrm>
          <a:prstGeom prst="roundRect">
            <a:avLst>
              <a:gd name="adj" fmla="val 3429"/>
            </a:avLst>
          </a:prstGeom>
          <a:solidFill>
            <a:schemeClr val="tx1">
              <a:lumMod val="10000"/>
              <a:lumOff val="90000"/>
            </a:schemeClr>
          </a:solidFill>
          <a:ln w="12700">
            <a:solidFill>
              <a:schemeClr val="bg2"/>
            </a:solidFill>
            <a:prstDash val="solid"/>
          </a:ln>
        </p:spPr>
        <p:txBody>
          <a:bodyPr/>
          <a:lstStyle/>
          <a:p>
            <a:endParaRPr lang="sv-SE" dirty="0"/>
          </a:p>
        </p:txBody>
      </p:sp>
      <p:sp>
        <p:nvSpPr>
          <p:cNvPr id="4" name="Huvudfråga"/>
          <p:cNvSpPr txBox="1"/>
          <p:nvPr/>
        </p:nvSpPr>
        <p:spPr>
          <a:xfrm>
            <a:off x="822960" y="1645920"/>
            <a:ext cx="2743200" cy="1664208"/>
          </a:xfrm>
          <a:prstGeom prst="rect">
            <a:avLst/>
          </a:prstGeom>
          <a:noFill/>
          <a:ln/>
        </p:spPr>
        <p:txBody>
          <a:bodyPr wrap="square" lIns="0" tIns="0" rIns="0" bIns="0" rtlCol="0" anchor="t"/>
          <a:lstStyle/>
          <a:p>
            <a:pPr marL="0" indent="0">
              <a:buNone/>
            </a:pPr>
            <a:r>
              <a:rPr lang="en-US" sz="2400" b="1" dirty="0">
                <a:solidFill>
                  <a:srgbClr val="0070C0"/>
                </a:solidFill>
              </a:rPr>
              <a:t>Är Polars verkligen snabbare än Pandas – och varför?</a:t>
            </a:r>
            <a:endParaRPr lang="en-US" sz="2400" dirty="0">
              <a:solidFill>
                <a:srgbClr val="0070C0"/>
              </a:solidFill>
            </a:endParaRPr>
          </a:p>
        </p:txBody>
      </p:sp>
      <p:sp>
        <p:nvSpPr>
          <p:cNvPr id="5" name="Bakgrund"/>
          <p:cNvSpPr txBox="1"/>
          <p:nvPr/>
        </p:nvSpPr>
        <p:spPr>
          <a:xfrm>
            <a:off x="822960" y="3429000"/>
            <a:ext cx="2743200" cy="914400"/>
          </a:xfrm>
          <a:prstGeom prst="rect">
            <a:avLst/>
          </a:prstGeom>
          <a:noFill/>
          <a:ln/>
        </p:spPr>
        <p:txBody>
          <a:bodyPr wrap="square" lIns="0" tIns="0" rIns="0" bIns="0" rtlCol="0" anchor="t"/>
          <a:lstStyle/>
          <a:p>
            <a:pPr marL="0" indent="0">
              <a:buNone/>
            </a:pPr>
            <a:r>
              <a:rPr lang="en-US" sz="1400" dirty="0">
                <a:solidFill>
                  <a:schemeClr val="tx2"/>
                </a:solidFill>
                <a:highlight>
                  <a:srgbClr val="FFFF00"/>
                </a:highlight>
              </a:rPr>
              <a:t>I kursen har vi mest kört Pandas.</a:t>
            </a:r>
          </a:p>
          <a:p>
            <a:pPr marL="0" indent="0">
              <a:buNone/>
            </a:pPr>
            <a:r>
              <a:rPr lang="en-US" sz="1400" dirty="0">
                <a:solidFill>
                  <a:schemeClr val="tx2"/>
                </a:solidFill>
                <a:highlight>
                  <a:srgbClr val="FFFF00"/>
                </a:highlight>
              </a:rPr>
              <a:t>Polars nämns hela tiden, så jag ville testa själv.</a:t>
            </a:r>
            <a:endParaRPr lang="en-US" sz="1400" dirty="0">
              <a:highlight>
                <a:srgbClr val="FFFF00"/>
              </a:highlight>
            </a:endParaRPr>
          </a:p>
        </p:txBody>
      </p:sp>
      <p:sp>
        <p:nvSpPr>
          <p:cNvPr id="8" name="Mål rubrik 1"/>
          <p:cNvSpPr txBox="1"/>
          <p:nvPr/>
        </p:nvSpPr>
        <p:spPr>
          <a:xfrm>
            <a:off x="5120640" y="1371600"/>
            <a:ext cx="3474720" cy="365760"/>
          </a:xfrm>
          <a:prstGeom prst="rect">
            <a:avLst/>
          </a:prstGeom>
          <a:noFill/>
          <a:ln/>
        </p:spPr>
        <p:txBody>
          <a:bodyPr wrap="square" lIns="0" tIns="0" rIns="0" bIns="0" rtlCol="0" anchor="ctr"/>
          <a:lstStyle/>
          <a:p>
            <a:pPr marL="0" indent="0">
              <a:buNone/>
            </a:pPr>
            <a:r>
              <a:rPr lang="en-US" sz="1800" b="1" dirty="0">
                <a:solidFill>
                  <a:schemeClr val="tx1"/>
                </a:solidFill>
              </a:rPr>
              <a:t>Lära mig grunderna</a:t>
            </a:r>
            <a:endParaRPr lang="en-US" sz="1800" dirty="0"/>
          </a:p>
        </p:txBody>
      </p:sp>
      <p:sp>
        <p:nvSpPr>
          <p:cNvPr id="9" name="Mål text 1"/>
          <p:cNvSpPr txBox="1"/>
          <p:nvPr/>
        </p:nvSpPr>
        <p:spPr>
          <a:xfrm>
            <a:off x="5120640" y="1755648"/>
            <a:ext cx="3474720" cy="457200"/>
          </a:xfrm>
          <a:prstGeom prst="rect">
            <a:avLst/>
          </a:prstGeom>
          <a:noFill/>
          <a:ln/>
        </p:spPr>
        <p:txBody>
          <a:bodyPr wrap="square" lIns="0" tIns="0" rIns="0" bIns="0" rtlCol="0" anchor="t"/>
          <a:lstStyle/>
          <a:p>
            <a:pPr marL="0" indent="0">
              <a:buNone/>
            </a:pPr>
            <a:r>
              <a:rPr lang="en-US" sz="1400" dirty="0">
                <a:solidFill>
                  <a:schemeClr val="tx2"/>
                </a:solidFill>
                <a:highlight>
                  <a:srgbClr val="FFFF00"/>
                </a:highlight>
              </a:rPr>
              <a:t>Läsa in, filtrera, sortera och gruppera</a:t>
            </a:r>
            <a:endParaRPr lang="en-US" sz="1400" dirty="0">
              <a:highlight>
                <a:srgbClr val="FFFF00"/>
              </a:highlight>
            </a:endParaRPr>
          </a:p>
        </p:txBody>
      </p:sp>
      <p:sp>
        <p:nvSpPr>
          <p:cNvPr id="12" name="Mål rubrik 2"/>
          <p:cNvSpPr txBox="1"/>
          <p:nvPr/>
        </p:nvSpPr>
        <p:spPr>
          <a:xfrm>
            <a:off x="5120640" y="2468880"/>
            <a:ext cx="3474720" cy="365760"/>
          </a:xfrm>
          <a:prstGeom prst="rect">
            <a:avLst/>
          </a:prstGeom>
          <a:noFill/>
          <a:ln/>
        </p:spPr>
        <p:txBody>
          <a:bodyPr wrap="square" lIns="0" tIns="0" rIns="0" bIns="0" rtlCol="0" anchor="ctr"/>
          <a:lstStyle/>
          <a:p>
            <a:pPr marL="0" indent="0">
              <a:buNone/>
            </a:pPr>
            <a:r>
              <a:rPr lang="en-US" sz="1800" b="1" dirty="0">
                <a:solidFill>
                  <a:schemeClr val="tx1"/>
                </a:solidFill>
              </a:rPr>
              <a:t>Förstå varför det är snabbt</a:t>
            </a:r>
            <a:endParaRPr lang="en-US" sz="1800" dirty="0"/>
          </a:p>
        </p:txBody>
      </p:sp>
      <p:sp>
        <p:nvSpPr>
          <p:cNvPr id="13" name="Mål text 2"/>
          <p:cNvSpPr txBox="1"/>
          <p:nvPr/>
        </p:nvSpPr>
        <p:spPr>
          <a:xfrm>
            <a:off x="5120640" y="2852928"/>
            <a:ext cx="3474720" cy="457200"/>
          </a:xfrm>
          <a:prstGeom prst="rect">
            <a:avLst/>
          </a:prstGeom>
          <a:noFill/>
          <a:ln/>
        </p:spPr>
        <p:txBody>
          <a:bodyPr wrap="square" lIns="0" tIns="0" rIns="0" bIns="0" rtlCol="0" anchor="t"/>
          <a:lstStyle/>
          <a:p>
            <a:pPr marL="0" indent="0">
              <a:buNone/>
            </a:pPr>
            <a:r>
              <a:rPr lang="en-US" sz="1400" dirty="0">
                <a:solidFill>
                  <a:schemeClr val="tx2"/>
                </a:solidFill>
                <a:highlight>
                  <a:srgbClr val="FFFF00"/>
                </a:highlight>
              </a:rPr>
              <a:t>Vad som ligger bakom skillnaden</a:t>
            </a:r>
            <a:endParaRPr lang="en-US" sz="1400" dirty="0">
              <a:highlight>
                <a:srgbClr val="FFFF00"/>
              </a:highlight>
            </a:endParaRPr>
          </a:p>
        </p:txBody>
      </p:sp>
      <p:sp>
        <p:nvSpPr>
          <p:cNvPr id="16" name="Mål rubrik 3"/>
          <p:cNvSpPr txBox="1"/>
          <p:nvPr/>
        </p:nvSpPr>
        <p:spPr>
          <a:xfrm>
            <a:off x="5120640" y="3566160"/>
            <a:ext cx="3474720" cy="365760"/>
          </a:xfrm>
          <a:prstGeom prst="rect">
            <a:avLst/>
          </a:prstGeom>
          <a:noFill/>
          <a:ln/>
        </p:spPr>
        <p:txBody>
          <a:bodyPr wrap="square" lIns="0" tIns="0" rIns="0" bIns="0" rtlCol="0" anchor="ctr"/>
          <a:lstStyle/>
          <a:p>
            <a:pPr marL="0" indent="0">
              <a:buNone/>
            </a:pPr>
            <a:r>
              <a:rPr lang="en-US" sz="1800" b="1" dirty="0">
                <a:solidFill>
                  <a:schemeClr val="tx1"/>
                </a:solidFill>
              </a:rPr>
              <a:t>Testa själv</a:t>
            </a:r>
            <a:endParaRPr lang="en-US" sz="1800" dirty="0"/>
          </a:p>
        </p:txBody>
      </p:sp>
      <p:sp>
        <p:nvSpPr>
          <p:cNvPr id="17" name="Mål text 3"/>
          <p:cNvSpPr txBox="1"/>
          <p:nvPr/>
        </p:nvSpPr>
        <p:spPr>
          <a:xfrm>
            <a:off x="5120640" y="3950208"/>
            <a:ext cx="3474720" cy="457200"/>
          </a:xfrm>
          <a:prstGeom prst="rect">
            <a:avLst/>
          </a:prstGeom>
          <a:noFill/>
          <a:ln/>
        </p:spPr>
        <p:txBody>
          <a:bodyPr wrap="square" lIns="0" tIns="0" rIns="0" bIns="0" rtlCol="0" anchor="t"/>
          <a:lstStyle/>
          <a:p>
            <a:pPr marL="0" indent="0">
              <a:buNone/>
            </a:pPr>
            <a:r>
              <a:rPr lang="en-US" sz="1400" dirty="0">
                <a:solidFill>
                  <a:schemeClr val="tx2"/>
                </a:solidFill>
                <a:highlight>
                  <a:srgbClr val="FFFF00"/>
                </a:highlight>
              </a:rPr>
              <a:t>Egen jämförelse på en miljon rader</a:t>
            </a:r>
            <a:endParaRPr lang="en-US" sz="1400" dirty="0">
              <a:highlight>
                <a:srgbClr val="FFFF00"/>
              </a:highlight>
            </a:endParaRP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200" b="1" dirty="0">
                <a:solidFill>
                  <a:schemeClr val="bg1"/>
                </a:solidFill>
              </a:rPr>
              <a:t>Fyra begrepp bakom hastigheten</a:t>
            </a:r>
            <a:endParaRPr lang="en-US" sz="3200" dirty="0">
              <a:solidFill>
                <a:schemeClr val="bg1"/>
              </a:solidFill>
            </a:endParaRPr>
          </a:p>
        </p:txBody>
      </p:sp>
      <p:sp>
        <p:nvSpPr>
          <p:cNvPr id="3" name="Kort 1"/>
          <p:cNvSpPr/>
          <p:nvPr/>
        </p:nvSpPr>
        <p:spPr>
          <a:xfrm>
            <a:off x="548640" y="1371600"/>
            <a:ext cx="3840480" cy="1417320"/>
          </a:xfrm>
          <a:prstGeom prst="roundRect">
            <a:avLst>
              <a:gd name="adj" fmla="val 7742"/>
            </a:avLst>
          </a:prstGeom>
          <a:solidFill>
            <a:schemeClr val="accent4">
              <a:lumMod val="60000"/>
              <a:lumOff val="40000"/>
            </a:schemeClr>
          </a:solidFill>
          <a:ln w="12700">
            <a:solidFill>
              <a:schemeClr val="bg2"/>
            </a:solidFill>
            <a:prstDash val="solid"/>
          </a:ln>
        </p:spPr>
        <p:txBody>
          <a:bodyPr/>
          <a:lstStyle/>
          <a:p>
            <a:endParaRPr lang="sv-SE"/>
          </a:p>
        </p:txBody>
      </p:sp>
      <p:sp>
        <p:nvSpPr>
          <p:cNvPr id="6" name="Begrepp rubrik 1"/>
          <p:cNvSpPr txBox="1"/>
          <p:nvPr/>
        </p:nvSpPr>
        <p:spPr>
          <a:xfrm>
            <a:off x="685801" y="1600200"/>
            <a:ext cx="3566159" cy="365760"/>
          </a:xfrm>
          <a:prstGeom prst="rect">
            <a:avLst/>
          </a:prstGeom>
          <a:noFill/>
          <a:ln/>
        </p:spPr>
        <p:txBody>
          <a:bodyPr wrap="square" lIns="0" tIns="0" rIns="0" bIns="0" rtlCol="0" anchor="ctr"/>
          <a:lstStyle/>
          <a:p>
            <a:pPr marL="0" indent="0">
              <a:buNone/>
            </a:pPr>
            <a:r>
              <a:rPr lang="en-US" sz="2000" b="1" dirty="0"/>
              <a:t>Kolumnbaserad lagring</a:t>
            </a:r>
            <a:endParaRPr lang="en-US" sz="2000" dirty="0"/>
          </a:p>
        </p:txBody>
      </p:sp>
      <p:sp>
        <p:nvSpPr>
          <p:cNvPr id="7" name="Begrepp text 1"/>
          <p:cNvSpPr txBox="1"/>
          <p:nvPr/>
        </p:nvSpPr>
        <p:spPr>
          <a:xfrm>
            <a:off x="685801" y="2088372"/>
            <a:ext cx="3566160" cy="517668"/>
          </a:xfrm>
          <a:prstGeom prst="rect">
            <a:avLst/>
          </a:prstGeom>
          <a:noFill/>
          <a:ln/>
        </p:spPr>
        <p:txBody>
          <a:bodyPr wrap="square" lIns="0" tIns="0" rIns="0" bIns="0" rtlCol="0" anchor="t"/>
          <a:lstStyle/>
          <a:p>
            <a:pPr marL="0" indent="0">
              <a:buNone/>
            </a:pPr>
            <a:r>
              <a:rPr lang="en-US" sz="1600" b="0" dirty="0">
                <a:highlight>
                  <a:srgbClr val="FFFF00"/>
                </a:highlight>
              </a:rPr>
              <a:t>Apache Arrow. Datan ligger kolumn för kolumn. Bra för summor och medelvärden</a:t>
            </a:r>
            <a:r>
              <a:rPr lang="en-US" sz="1600" b="0" dirty="0"/>
              <a:t>.</a:t>
            </a:r>
          </a:p>
        </p:txBody>
      </p:sp>
      <p:sp>
        <p:nvSpPr>
          <p:cNvPr id="8" name="Kort 2"/>
          <p:cNvSpPr/>
          <p:nvPr/>
        </p:nvSpPr>
        <p:spPr>
          <a:xfrm>
            <a:off x="4754880" y="1371600"/>
            <a:ext cx="3840480" cy="1417320"/>
          </a:xfrm>
          <a:prstGeom prst="roundRect">
            <a:avLst>
              <a:gd name="adj" fmla="val 7742"/>
            </a:avLst>
          </a:prstGeom>
          <a:solidFill>
            <a:schemeClr val="accent4">
              <a:lumMod val="60000"/>
              <a:lumOff val="40000"/>
            </a:schemeClr>
          </a:solidFill>
          <a:ln w="12700">
            <a:solidFill>
              <a:schemeClr val="bg2"/>
            </a:solidFill>
            <a:prstDash val="solid"/>
          </a:ln>
        </p:spPr>
        <p:txBody>
          <a:bodyPr/>
          <a:lstStyle/>
          <a:p>
            <a:endParaRPr lang="sv-SE"/>
          </a:p>
        </p:txBody>
      </p:sp>
      <p:sp>
        <p:nvSpPr>
          <p:cNvPr id="11" name="Begrepp rubrik 2"/>
          <p:cNvSpPr txBox="1"/>
          <p:nvPr/>
        </p:nvSpPr>
        <p:spPr>
          <a:xfrm>
            <a:off x="4890565" y="1600200"/>
            <a:ext cx="3567635" cy="365760"/>
          </a:xfrm>
          <a:prstGeom prst="rect">
            <a:avLst/>
          </a:prstGeom>
          <a:noFill/>
          <a:ln/>
        </p:spPr>
        <p:txBody>
          <a:bodyPr wrap="square" lIns="0" tIns="0" rIns="0" bIns="0" rtlCol="0" anchor="ctr"/>
          <a:lstStyle/>
          <a:p>
            <a:pPr marL="0" indent="0">
              <a:buNone/>
            </a:pPr>
            <a:r>
              <a:rPr lang="en-US" sz="2000" b="1" dirty="0"/>
              <a:t>Multi-threading</a:t>
            </a:r>
            <a:endParaRPr lang="en-US" sz="2000" dirty="0"/>
          </a:p>
        </p:txBody>
      </p:sp>
      <p:sp>
        <p:nvSpPr>
          <p:cNvPr id="12" name="Begrepp text 2"/>
          <p:cNvSpPr txBox="1"/>
          <p:nvPr/>
        </p:nvSpPr>
        <p:spPr>
          <a:xfrm>
            <a:off x="4890565" y="2088372"/>
            <a:ext cx="3567635" cy="517668"/>
          </a:xfrm>
          <a:prstGeom prst="rect">
            <a:avLst/>
          </a:prstGeom>
          <a:noFill/>
          <a:ln/>
        </p:spPr>
        <p:txBody>
          <a:bodyPr wrap="square" lIns="0" tIns="0" rIns="0" bIns="0" rtlCol="0" anchor="t"/>
          <a:lstStyle/>
          <a:p>
            <a:r>
              <a:rPr lang="en-US" sz="1600" dirty="0" err="1">
                <a:highlight>
                  <a:srgbClr val="FFFF00"/>
                </a:highlight>
              </a:rPr>
              <a:t>Flera kärnor i processorn jobbar samtidigt, utan att jag skriver extra kod.</a:t>
            </a:r>
          </a:p>
        </p:txBody>
      </p:sp>
      <p:sp>
        <p:nvSpPr>
          <p:cNvPr id="13" name="Kort 3"/>
          <p:cNvSpPr/>
          <p:nvPr/>
        </p:nvSpPr>
        <p:spPr>
          <a:xfrm>
            <a:off x="548640" y="3017520"/>
            <a:ext cx="3840480" cy="1417320"/>
          </a:xfrm>
          <a:prstGeom prst="roundRect">
            <a:avLst>
              <a:gd name="adj" fmla="val 7742"/>
            </a:avLst>
          </a:prstGeom>
          <a:solidFill>
            <a:schemeClr val="accent4">
              <a:lumMod val="60000"/>
              <a:lumOff val="40000"/>
            </a:schemeClr>
          </a:solidFill>
          <a:ln w="12700">
            <a:solidFill>
              <a:schemeClr val="bg2"/>
            </a:solidFill>
            <a:prstDash val="solid"/>
          </a:ln>
        </p:spPr>
        <p:txBody>
          <a:bodyPr/>
          <a:lstStyle/>
          <a:p>
            <a:endParaRPr lang="sv-SE"/>
          </a:p>
        </p:txBody>
      </p:sp>
      <p:sp>
        <p:nvSpPr>
          <p:cNvPr id="16" name="Begrepp rubrik 3"/>
          <p:cNvSpPr txBox="1"/>
          <p:nvPr/>
        </p:nvSpPr>
        <p:spPr>
          <a:xfrm>
            <a:off x="685801" y="3246120"/>
            <a:ext cx="3566159" cy="365760"/>
          </a:xfrm>
          <a:prstGeom prst="rect">
            <a:avLst/>
          </a:prstGeom>
          <a:noFill/>
          <a:ln/>
        </p:spPr>
        <p:txBody>
          <a:bodyPr wrap="square" lIns="0" tIns="0" rIns="0" bIns="0" rtlCol="0" anchor="ctr"/>
          <a:lstStyle/>
          <a:p>
            <a:pPr marL="0" indent="0">
              <a:buNone/>
            </a:pPr>
            <a:r>
              <a:rPr lang="en-US" sz="2000" b="1" dirty="0"/>
              <a:t>Lazy evaluation</a:t>
            </a:r>
            <a:endParaRPr lang="en-US" sz="2000" dirty="0"/>
          </a:p>
        </p:txBody>
      </p:sp>
      <p:sp>
        <p:nvSpPr>
          <p:cNvPr id="17" name="Begrepp text 3"/>
          <p:cNvSpPr txBox="1"/>
          <p:nvPr/>
        </p:nvSpPr>
        <p:spPr>
          <a:xfrm>
            <a:off x="685801" y="3657600"/>
            <a:ext cx="3566159" cy="594360"/>
          </a:xfrm>
          <a:prstGeom prst="rect">
            <a:avLst/>
          </a:prstGeom>
          <a:noFill/>
          <a:ln/>
        </p:spPr>
        <p:txBody>
          <a:bodyPr wrap="square" lIns="0" tIns="0" rIns="0" bIns="0" rtlCol="0" anchor="t"/>
          <a:lstStyle/>
          <a:p>
            <a:r>
              <a:rPr lang="en-US" sz="1600" dirty="0" err="1">
                <a:highlight>
                  <a:srgbClr val="FFFF00"/>
                </a:highlight>
              </a:rPr>
              <a:t>Jag skriver hela frågan först. Polars gör en plan och optimerar den innan den körs.</a:t>
            </a:r>
          </a:p>
        </p:txBody>
      </p:sp>
      <p:sp>
        <p:nvSpPr>
          <p:cNvPr id="18" name="Kort 4"/>
          <p:cNvSpPr/>
          <p:nvPr/>
        </p:nvSpPr>
        <p:spPr>
          <a:xfrm>
            <a:off x="4754880" y="3017520"/>
            <a:ext cx="3840480" cy="1417320"/>
          </a:xfrm>
          <a:prstGeom prst="roundRect">
            <a:avLst>
              <a:gd name="adj" fmla="val 7742"/>
            </a:avLst>
          </a:prstGeom>
          <a:solidFill>
            <a:schemeClr val="accent4">
              <a:lumMod val="60000"/>
              <a:lumOff val="40000"/>
            </a:schemeClr>
          </a:solidFill>
          <a:ln w="12700">
            <a:solidFill>
              <a:schemeClr val="bg2"/>
            </a:solidFill>
            <a:prstDash val="solid"/>
          </a:ln>
        </p:spPr>
        <p:txBody>
          <a:bodyPr/>
          <a:lstStyle/>
          <a:p>
            <a:endParaRPr lang="sv-SE"/>
          </a:p>
        </p:txBody>
      </p:sp>
      <p:sp>
        <p:nvSpPr>
          <p:cNvPr id="21" name="Begrepp rubrik 4"/>
          <p:cNvSpPr txBox="1"/>
          <p:nvPr/>
        </p:nvSpPr>
        <p:spPr>
          <a:xfrm>
            <a:off x="4890565" y="3246120"/>
            <a:ext cx="3567635" cy="365760"/>
          </a:xfrm>
          <a:prstGeom prst="rect">
            <a:avLst/>
          </a:prstGeom>
          <a:noFill/>
          <a:ln/>
        </p:spPr>
        <p:txBody>
          <a:bodyPr wrap="square" lIns="0" tIns="0" rIns="0" bIns="0" rtlCol="0" anchor="ctr"/>
          <a:lstStyle/>
          <a:p>
            <a:pPr marL="0" indent="0">
              <a:buNone/>
            </a:pPr>
            <a:r>
              <a:rPr lang="en-US" sz="2000" b="1" dirty="0"/>
              <a:t>Striktare typning</a:t>
            </a:r>
            <a:endParaRPr lang="en-US" sz="2000" dirty="0"/>
          </a:p>
        </p:txBody>
      </p:sp>
      <p:sp>
        <p:nvSpPr>
          <p:cNvPr id="22" name="Begrepp text 4"/>
          <p:cNvSpPr txBox="1"/>
          <p:nvPr/>
        </p:nvSpPr>
        <p:spPr>
          <a:xfrm>
            <a:off x="4890565" y="3698894"/>
            <a:ext cx="3567635" cy="553065"/>
          </a:xfrm>
          <a:prstGeom prst="rect">
            <a:avLst/>
          </a:prstGeom>
          <a:noFill/>
          <a:ln/>
        </p:spPr>
        <p:txBody>
          <a:bodyPr wrap="square" lIns="0" tIns="0" rIns="0" bIns="0" rtlCol="0" anchor="t"/>
          <a:lstStyle/>
          <a:p>
            <a:r>
              <a:rPr lang="en-US" sz="1600" dirty="0">
                <a:highlight>
                  <a:srgbClr val="FFFF00"/>
                </a:highlight>
              </a:rPr>
              <a:t>Polars är noggrannare med datatyper än Pandas. Det ger färre överraskningar.</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200" b="1" dirty="0">
                <a:solidFill>
                  <a:schemeClr val="tx1"/>
                </a:solidFill>
              </a:rPr>
              <a:t>Vad jag byggde</a:t>
            </a:r>
            <a:endParaRPr lang="en-US" sz="3200" dirty="0"/>
          </a:p>
        </p:txBody>
      </p:sp>
      <p:sp>
        <p:nvSpPr>
          <p:cNvPr id="3" name="Statkort 1"/>
          <p:cNvSpPr/>
          <p:nvPr/>
        </p:nvSpPr>
        <p:spPr>
          <a:xfrm>
            <a:off x="548640" y="1371600"/>
            <a:ext cx="2834640" cy="914400"/>
          </a:xfrm>
          <a:prstGeom prst="roundRect">
            <a:avLst>
              <a:gd name="adj" fmla="val 12000"/>
            </a:avLst>
          </a:prstGeom>
          <a:solidFill>
            <a:schemeClr val="accent5">
              <a:lumMod val="40000"/>
              <a:lumOff val="60000"/>
            </a:schemeClr>
          </a:solidFill>
          <a:ln w="12700">
            <a:solidFill>
              <a:schemeClr val="bg2"/>
            </a:solidFill>
            <a:prstDash val="solid"/>
          </a:ln>
        </p:spPr>
        <p:txBody>
          <a:bodyPr/>
          <a:lstStyle/>
          <a:p>
            <a:endParaRPr lang="sv-SE"/>
          </a:p>
        </p:txBody>
      </p:sp>
      <p:sp>
        <p:nvSpPr>
          <p:cNvPr id="4" name="Stat tal 1"/>
          <p:cNvSpPr txBox="1"/>
          <p:nvPr/>
        </p:nvSpPr>
        <p:spPr>
          <a:xfrm>
            <a:off x="777240" y="1444752"/>
            <a:ext cx="2468880" cy="438912"/>
          </a:xfrm>
          <a:prstGeom prst="rect">
            <a:avLst/>
          </a:prstGeom>
          <a:noFill/>
          <a:ln/>
        </p:spPr>
        <p:txBody>
          <a:bodyPr wrap="square" lIns="0" tIns="0" rIns="0" bIns="0" rtlCol="0" anchor="ctr"/>
          <a:lstStyle/>
          <a:p>
            <a:pPr marL="0" indent="0">
              <a:buNone/>
            </a:pPr>
            <a:r>
              <a:rPr lang="en-US" sz="3000" b="1" dirty="0">
                <a:solidFill>
                  <a:schemeClr val="tx1"/>
                </a:solidFill>
              </a:rPr>
              <a:t>5 475</a:t>
            </a:r>
            <a:endParaRPr lang="en-US" sz="3000" dirty="0"/>
          </a:p>
        </p:txBody>
      </p:sp>
      <p:sp>
        <p:nvSpPr>
          <p:cNvPr id="5" name="Stat text 1"/>
          <p:cNvSpPr txBox="1"/>
          <p:nvPr/>
        </p:nvSpPr>
        <p:spPr>
          <a:xfrm>
            <a:off x="777240" y="1883664"/>
            <a:ext cx="2468880" cy="320040"/>
          </a:xfrm>
          <a:prstGeom prst="rect">
            <a:avLst/>
          </a:prstGeom>
          <a:noFill/>
          <a:ln/>
        </p:spPr>
        <p:txBody>
          <a:bodyPr wrap="square" lIns="0" tIns="0" rIns="0" bIns="0" rtlCol="0" anchor="t"/>
          <a:lstStyle/>
          <a:p>
            <a:pPr marL="0" indent="0">
              <a:buNone/>
            </a:pPr>
            <a:r>
              <a:rPr lang="en-US" sz="1400" dirty="0">
                <a:solidFill>
                  <a:schemeClr val="tx2"/>
                </a:solidFill>
              </a:rPr>
              <a:t>rader syntetisk eldata</a:t>
            </a:r>
            <a:endParaRPr lang="en-US" sz="1400" dirty="0"/>
          </a:p>
        </p:txBody>
      </p:sp>
      <p:sp>
        <p:nvSpPr>
          <p:cNvPr id="6" name="Statkort 2"/>
          <p:cNvSpPr/>
          <p:nvPr/>
        </p:nvSpPr>
        <p:spPr>
          <a:xfrm>
            <a:off x="548640" y="2468880"/>
            <a:ext cx="2834640" cy="914400"/>
          </a:xfrm>
          <a:prstGeom prst="roundRect">
            <a:avLst>
              <a:gd name="adj" fmla="val 12000"/>
            </a:avLst>
          </a:prstGeom>
          <a:solidFill>
            <a:schemeClr val="accent5">
              <a:lumMod val="40000"/>
              <a:lumOff val="60000"/>
            </a:schemeClr>
          </a:solidFill>
          <a:ln w="12700">
            <a:solidFill>
              <a:schemeClr val="bg2"/>
            </a:solidFill>
            <a:prstDash val="solid"/>
          </a:ln>
        </p:spPr>
        <p:txBody>
          <a:bodyPr/>
          <a:lstStyle/>
          <a:p>
            <a:endParaRPr lang="sv-SE"/>
          </a:p>
        </p:txBody>
      </p:sp>
      <p:sp>
        <p:nvSpPr>
          <p:cNvPr id="7" name="Stat tal 2"/>
          <p:cNvSpPr txBox="1"/>
          <p:nvPr/>
        </p:nvSpPr>
        <p:spPr>
          <a:xfrm>
            <a:off x="777240" y="2542032"/>
            <a:ext cx="2468880" cy="438912"/>
          </a:xfrm>
          <a:prstGeom prst="rect">
            <a:avLst/>
          </a:prstGeom>
          <a:noFill/>
          <a:ln/>
        </p:spPr>
        <p:txBody>
          <a:bodyPr wrap="square" lIns="0" tIns="0" rIns="0" bIns="0" rtlCol="0" anchor="ctr"/>
          <a:lstStyle/>
          <a:p>
            <a:pPr marL="0" indent="0">
              <a:buNone/>
            </a:pPr>
            <a:r>
              <a:rPr lang="en-US" sz="3000" b="1" dirty="0">
                <a:solidFill>
                  <a:schemeClr val="tx1"/>
                </a:solidFill>
              </a:rPr>
              <a:t>5</a:t>
            </a:r>
            <a:endParaRPr lang="en-US" sz="3000" dirty="0"/>
          </a:p>
        </p:txBody>
      </p:sp>
      <p:sp>
        <p:nvSpPr>
          <p:cNvPr id="8" name="Stat text 2"/>
          <p:cNvSpPr txBox="1"/>
          <p:nvPr/>
        </p:nvSpPr>
        <p:spPr>
          <a:xfrm>
            <a:off x="777240" y="2980944"/>
            <a:ext cx="2468880" cy="320040"/>
          </a:xfrm>
          <a:prstGeom prst="rect">
            <a:avLst/>
          </a:prstGeom>
          <a:noFill/>
          <a:ln/>
        </p:spPr>
        <p:txBody>
          <a:bodyPr wrap="square" lIns="0" tIns="0" rIns="0" bIns="0" rtlCol="0" anchor="t"/>
          <a:lstStyle/>
          <a:p>
            <a:pPr marL="0" indent="0">
              <a:buNone/>
            </a:pPr>
            <a:r>
              <a:rPr lang="en-US" sz="1400" dirty="0">
                <a:solidFill>
                  <a:schemeClr val="tx2"/>
                </a:solidFill>
              </a:rPr>
              <a:t>städer under 2025</a:t>
            </a:r>
            <a:endParaRPr lang="en-US" sz="1400" dirty="0"/>
          </a:p>
        </p:txBody>
      </p:sp>
      <p:sp>
        <p:nvSpPr>
          <p:cNvPr id="9" name="Statkort 3"/>
          <p:cNvSpPr/>
          <p:nvPr/>
        </p:nvSpPr>
        <p:spPr>
          <a:xfrm>
            <a:off x="548640" y="3566160"/>
            <a:ext cx="2834640" cy="914400"/>
          </a:xfrm>
          <a:prstGeom prst="roundRect">
            <a:avLst>
              <a:gd name="adj" fmla="val 12000"/>
            </a:avLst>
          </a:prstGeom>
          <a:solidFill>
            <a:schemeClr val="accent5">
              <a:lumMod val="40000"/>
              <a:lumOff val="60000"/>
            </a:schemeClr>
          </a:solidFill>
          <a:ln w="12700">
            <a:solidFill>
              <a:schemeClr val="bg2"/>
            </a:solidFill>
            <a:prstDash val="solid"/>
          </a:ln>
        </p:spPr>
        <p:txBody>
          <a:bodyPr/>
          <a:lstStyle/>
          <a:p>
            <a:endParaRPr lang="sv-SE"/>
          </a:p>
        </p:txBody>
      </p:sp>
      <p:sp>
        <p:nvSpPr>
          <p:cNvPr id="10" name="Stat tal 3"/>
          <p:cNvSpPr txBox="1"/>
          <p:nvPr/>
        </p:nvSpPr>
        <p:spPr>
          <a:xfrm>
            <a:off x="777240" y="3639312"/>
            <a:ext cx="2468880" cy="438912"/>
          </a:xfrm>
          <a:prstGeom prst="rect">
            <a:avLst/>
          </a:prstGeom>
          <a:noFill/>
          <a:ln/>
        </p:spPr>
        <p:txBody>
          <a:bodyPr wrap="square" lIns="0" tIns="0" rIns="0" bIns="0" rtlCol="0" anchor="ctr"/>
          <a:lstStyle/>
          <a:p>
            <a:pPr marL="0" indent="0">
              <a:buNone/>
            </a:pPr>
            <a:r>
              <a:rPr lang="en-US" sz="3000" b="1" dirty="0">
                <a:solidFill>
                  <a:schemeClr val="tx1"/>
                </a:solidFill>
              </a:rPr>
              <a:t>3</a:t>
            </a:r>
            <a:endParaRPr lang="en-US" sz="3000" dirty="0"/>
          </a:p>
        </p:txBody>
      </p:sp>
      <p:sp>
        <p:nvSpPr>
          <p:cNvPr id="11" name="Stat text 3"/>
          <p:cNvSpPr txBox="1"/>
          <p:nvPr/>
        </p:nvSpPr>
        <p:spPr>
          <a:xfrm>
            <a:off x="777240" y="4078224"/>
            <a:ext cx="2468880" cy="320040"/>
          </a:xfrm>
          <a:prstGeom prst="rect">
            <a:avLst/>
          </a:prstGeom>
          <a:noFill/>
          <a:ln/>
        </p:spPr>
        <p:txBody>
          <a:bodyPr wrap="square" lIns="0" tIns="0" rIns="0" bIns="0" rtlCol="0" anchor="t"/>
          <a:lstStyle/>
          <a:p>
            <a:pPr marL="0" indent="0">
              <a:buNone/>
            </a:pPr>
            <a:r>
              <a:rPr lang="en-US" sz="1400" dirty="0">
                <a:solidFill>
                  <a:schemeClr val="tx2"/>
                </a:solidFill>
              </a:rPr>
              <a:t>sektorer</a:t>
            </a:r>
            <a:endParaRPr lang="en-US" sz="1400" dirty="0"/>
          </a:p>
        </p:txBody>
      </p:sp>
      <p:sp>
        <p:nvSpPr>
          <p:cNvPr id="13" name="Stegnummer 1"/>
          <p:cNvSpPr txBox="1"/>
          <p:nvPr/>
        </p:nvSpPr>
        <p:spPr>
          <a:xfrm>
            <a:off x="3922776" y="1389888"/>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1.</a:t>
            </a:r>
            <a:endParaRPr lang="en-US" dirty="0"/>
          </a:p>
        </p:txBody>
      </p:sp>
      <p:sp>
        <p:nvSpPr>
          <p:cNvPr id="14" name="Steg 1"/>
          <p:cNvSpPr txBox="1"/>
          <p:nvPr/>
        </p:nvSpPr>
        <p:spPr>
          <a:xfrm>
            <a:off x="4480560" y="1371600"/>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Läsa in data   </a:t>
            </a:r>
            <a:r>
              <a:rPr lang="en-US" sz="1600" dirty="0">
                <a:solidFill>
                  <a:schemeClr val="tx2"/>
                </a:solidFill>
                <a:latin typeface="Courier New" pitchFamily="34" charset="0"/>
                <a:ea typeface="Courier New" pitchFamily="34" charset="-122"/>
                <a:cs typeface="Courier New" pitchFamily="34" charset="-120"/>
              </a:rPr>
              <a:t>read_csv()</a:t>
            </a:r>
            <a:endParaRPr lang="en-US" sz="1600" dirty="0"/>
          </a:p>
        </p:txBody>
      </p:sp>
      <p:sp>
        <p:nvSpPr>
          <p:cNvPr id="16" name="Stegnummer 2"/>
          <p:cNvSpPr txBox="1"/>
          <p:nvPr/>
        </p:nvSpPr>
        <p:spPr>
          <a:xfrm>
            <a:off x="3932215" y="1935578"/>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2.</a:t>
            </a:r>
            <a:endParaRPr lang="en-US" dirty="0"/>
          </a:p>
        </p:txBody>
      </p:sp>
      <p:sp>
        <p:nvSpPr>
          <p:cNvPr id="17" name="Steg 2"/>
          <p:cNvSpPr txBox="1"/>
          <p:nvPr/>
        </p:nvSpPr>
        <p:spPr>
          <a:xfrm>
            <a:off x="4480560" y="1938528"/>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Filtrera och sortera   </a:t>
            </a:r>
            <a:r>
              <a:rPr lang="en-US" sz="1600" dirty="0">
                <a:solidFill>
                  <a:schemeClr val="tx2"/>
                </a:solidFill>
                <a:latin typeface="Courier New" pitchFamily="34" charset="0"/>
                <a:ea typeface="Courier New" pitchFamily="34" charset="-122"/>
                <a:cs typeface="Courier New" pitchFamily="34" charset="-120"/>
              </a:rPr>
              <a:t>filter(), sort()</a:t>
            </a:r>
            <a:endParaRPr lang="en-US" sz="1600" dirty="0"/>
          </a:p>
        </p:txBody>
      </p:sp>
      <p:sp>
        <p:nvSpPr>
          <p:cNvPr id="19" name="Stegnummer 3"/>
          <p:cNvSpPr txBox="1"/>
          <p:nvPr/>
        </p:nvSpPr>
        <p:spPr>
          <a:xfrm>
            <a:off x="3922776" y="2514600"/>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3.</a:t>
            </a:r>
            <a:endParaRPr lang="en-US" dirty="0"/>
          </a:p>
        </p:txBody>
      </p:sp>
      <p:sp>
        <p:nvSpPr>
          <p:cNvPr id="20" name="Steg 3"/>
          <p:cNvSpPr txBox="1"/>
          <p:nvPr/>
        </p:nvSpPr>
        <p:spPr>
          <a:xfrm>
            <a:off x="4480560" y="2505456"/>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Nya kolumner   </a:t>
            </a:r>
            <a:r>
              <a:rPr lang="en-US" sz="1600" dirty="0">
                <a:solidFill>
                  <a:schemeClr val="tx2"/>
                </a:solidFill>
                <a:latin typeface="Courier New" pitchFamily="34" charset="0"/>
                <a:ea typeface="Courier New" pitchFamily="34" charset="-122"/>
                <a:cs typeface="Courier New" pitchFamily="34" charset="-120"/>
              </a:rPr>
              <a:t>with_columns()</a:t>
            </a:r>
            <a:endParaRPr lang="en-US" sz="1600" dirty="0"/>
          </a:p>
        </p:txBody>
      </p:sp>
      <p:sp>
        <p:nvSpPr>
          <p:cNvPr id="22" name="Stegnummer 4"/>
          <p:cNvSpPr txBox="1"/>
          <p:nvPr/>
        </p:nvSpPr>
        <p:spPr>
          <a:xfrm>
            <a:off x="3922776" y="3072384"/>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4.</a:t>
            </a:r>
            <a:endParaRPr lang="en-US" dirty="0"/>
          </a:p>
        </p:txBody>
      </p:sp>
      <p:sp>
        <p:nvSpPr>
          <p:cNvPr id="23" name="Steg 4"/>
          <p:cNvSpPr txBox="1"/>
          <p:nvPr/>
        </p:nvSpPr>
        <p:spPr>
          <a:xfrm>
            <a:off x="4480560" y="3072384"/>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Gruppera och summera   </a:t>
            </a:r>
            <a:r>
              <a:rPr lang="en-US" sz="1600" dirty="0">
                <a:solidFill>
                  <a:schemeClr val="tx2"/>
                </a:solidFill>
                <a:latin typeface="Courier New" pitchFamily="34" charset="0"/>
                <a:ea typeface="Courier New" pitchFamily="34" charset="-122"/>
                <a:cs typeface="Courier New" pitchFamily="34" charset="-120"/>
              </a:rPr>
              <a:t>group_by().agg()</a:t>
            </a:r>
            <a:endParaRPr lang="en-US" sz="1600" dirty="0"/>
          </a:p>
        </p:txBody>
      </p:sp>
      <p:sp>
        <p:nvSpPr>
          <p:cNvPr id="25" name="Stegnummer 5"/>
          <p:cNvSpPr txBox="1"/>
          <p:nvPr/>
        </p:nvSpPr>
        <p:spPr>
          <a:xfrm>
            <a:off x="3922776" y="3648456"/>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5.</a:t>
            </a:r>
            <a:endParaRPr lang="en-US" dirty="0"/>
          </a:p>
        </p:txBody>
      </p:sp>
      <p:sp>
        <p:nvSpPr>
          <p:cNvPr id="26" name="Steg 5"/>
          <p:cNvSpPr txBox="1"/>
          <p:nvPr/>
        </p:nvSpPr>
        <p:spPr>
          <a:xfrm>
            <a:off x="4480560" y="3639312"/>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Lazy evaluation   </a:t>
            </a:r>
            <a:r>
              <a:rPr lang="en-US" sz="1600" dirty="0">
                <a:solidFill>
                  <a:schemeClr val="tx2"/>
                </a:solidFill>
                <a:latin typeface="Courier New" pitchFamily="34" charset="0"/>
                <a:ea typeface="Courier New" pitchFamily="34" charset="-122"/>
                <a:cs typeface="Courier New" pitchFamily="34" charset="-120"/>
              </a:rPr>
              <a:t>scan_csv(), collect()</a:t>
            </a:r>
            <a:endParaRPr lang="en-US" sz="1600" dirty="0"/>
          </a:p>
        </p:txBody>
      </p:sp>
      <p:sp>
        <p:nvSpPr>
          <p:cNvPr id="28" name="Stegnummer 6"/>
          <p:cNvSpPr txBox="1"/>
          <p:nvPr/>
        </p:nvSpPr>
        <p:spPr>
          <a:xfrm>
            <a:off x="3932215" y="4206240"/>
            <a:ext cx="420624" cy="420624"/>
          </a:xfrm>
          <a:prstGeom prst="rect">
            <a:avLst/>
          </a:prstGeom>
          <a:noFill/>
          <a:ln/>
        </p:spPr>
        <p:txBody>
          <a:bodyPr wrap="square" lIns="0" tIns="0" rIns="0" bIns="0" rtlCol="0" anchor="ctr"/>
          <a:lstStyle/>
          <a:p>
            <a:pPr marL="0" indent="0" algn="ctr">
              <a:buNone/>
            </a:pPr>
            <a:r>
              <a:rPr lang="en-US" b="1" dirty="0">
                <a:solidFill>
                  <a:schemeClr val="tx1"/>
                </a:solidFill>
              </a:rPr>
              <a:t>6.</a:t>
            </a:r>
            <a:endParaRPr lang="en-US" dirty="0"/>
          </a:p>
        </p:txBody>
      </p:sp>
      <p:sp>
        <p:nvSpPr>
          <p:cNvPr id="29" name="Steg 6"/>
          <p:cNvSpPr txBox="1"/>
          <p:nvPr/>
        </p:nvSpPr>
        <p:spPr>
          <a:xfrm>
            <a:off x="4480560" y="4206240"/>
            <a:ext cx="4114800" cy="420624"/>
          </a:xfrm>
          <a:prstGeom prst="rect">
            <a:avLst/>
          </a:prstGeom>
          <a:noFill/>
          <a:ln/>
        </p:spPr>
        <p:txBody>
          <a:bodyPr wrap="square" lIns="0" tIns="0" rIns="0" bIns="0" rtlCol="0" anchor="ctr"/>
          <a:lstStyle/>
          <a:p>
            <a:pPr marL="0" indent="0">
              <a:buNone/>
            </a:pPr>
            <a:r>
              <a:rPr lang="en-US" sz="1600" b="1" dirty="0">
                <a:solidFill>
                  <a:schemeClr val="tx1"/>
                </a:solidFill>
              </a:rPr>
              <a:t>Jämföra mot Pandas   </a:t>
            </a:r>
            <a:r>
              <a:rPr lang="en-US" sz="1600" dirty="0">
                <a:solidFill>
                  <a:schemeClr val="tx2"/>
                </a:solidFill>
                <a:latin typeface="Courier New" pitchFamily="34" charset="0"/>
                <a:ea typeface="Courier New" pitchFamily="34" charset="-122"/>
                <a:cs typeface="Courier New" pitchFamily="34" charset="-120"/>
              </a:rPr>
              <a:t>1 miljon rader</a:t>
            </a:r>
            <a:endParaRPr lang="en-US" sz="1600" dirty="0"/>
          </a:p>
        </p:txBody>
      </p:sp>
      <p:sp>
        <p:nvSpPr>
          <p:cNvPr id="3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200" b="1" dirty="0">
                <a:solidFill>
                  <a:schemeClr val="bg1"/>
                </a:solidFill>
              </a:rPr>
              <a:t>Samma uppgift, två bibliotek</a:t>
            </a:r>
            <a:endParaRPr lang="en-US" sz="3200" dirty="0">
              <a:solidFill>
                <a:schemeClr val="bg1"/>
              </a:solidFill>
            </a:endParaRPr>
          </a:p>
        </p:txBody>
      </p:sp>
      <p:sp>
        <p:nvSpPr>
          <p:cNvPr id="3" name="Polars-kort"/>
          <p:cNvSpPr/>
          <p:nvPr/>
        </p:nvSpPr>
        <p:spPr>
          <a:xfrm>
            <a:off x="548640" y="1325880"/>
            <a:ext cx="4937760" cy="1600200"/>
          </a:xfrm>
          <a:prstGeom prst="roundRect">
            <a:avLst>
              <a:gd name="adj" fmla="val 5714"/>
            </a:avLst>
          </a:prstGeom>
          <a:solidFill>
            <a:schemeClr val="tx1">
              <a:lumMod val="75000"/>
              <a:lumOff val="25000"/>
            </a:schemeClr>
          </a:solidFill>
          <a:ln w="12700">
            <a:solidFill>
              <a:schemeClr val="tx1"/>
            </a:solidFill>
            <a:prstDash val="solid"/>
          </a:ln>
        </p:spPr>
        <p:txBody>
          <a:bodyPr/>
          <a:lstStyle/>
          <a:p>
            <a:endParaRPr lang="sv-SE"/>
          </a:p>
        </p:txBody>
      </p:sp>
      <p:sp>
        <p:nvSpPr>
          <p:cNvPr id="4" name="Polars-etikett"/>
          <p:cNvSpPr txBox="1"/>
          <p:nvPr/>
        </p:nvSpPr>
        <p:spPr>
          <a:xfrm>
            <a:off x="777240" y="1417320"/>
            <a:ext cx="1828800" cy="274320"/>
          </a:xfrm>
          <a:prstGeom prst="rect">
            <a:avLst/>
          </a:prstGeom>
          <a:noFill/>
          <a:ln/>
        </p:spPr>
        <p:txBody>
          <a:bodyPr wrap="square" lIns="0" tIns="0" rIns="0" bIns="0" rtlCol="0" anchor="ctr"/>
          <a:lstStyle/>
          <a:p>
            <a:pPr marL="0" indent="0">
              <a:buNone/>
            </a:pPr>
            <a:r>
              <a:rPr lang="en-US" sz="1400" b="1" dirty="0">
                <a:highlight>
                  <a:srgbClr val="FFFF00"/>
                </a:highlight>
              </a:rPr>
              <a:t>POLARS</a:t>
            </a:r>
            <a:endParaRPr lang="en-US" sz="1400" dirty="0">
              <a:highlight>
                <a:srgbClr val="FFFF00"/>
              </a:highlight>
            </a:endParaRPr>
          </a:p>
        </p:txBody>
      </p:sp>
      <p:sp>
        <p:nvSpPr>
          <p:cNvPr id="5" name="Polars-kod"/>
          <p:cNvSpPr txBox="1"/>
          <p:nvPr/>
        </p:nvSpPr>
        <p:spPr>
          <a:xfrm>
            <a:off x="777240" y="1737360"/>
            <a:ext cx="4572000" cy="109728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df.group_by("region")</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.agg(pl.col("forbrukning_kwh")</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.sum().alias("total_kwh"))</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.sort("total_kwh", descending=True)</a:t>
            </a:r>
            <a:endParaRPr lang="en-US" sz="1200" dirty="0"/>
          </a:p>
        </p:txBody>
      </p:sp>
      <p:sp>
        <p:nvSpPr>
          <p:cNvPr id="6" name="Pandas-kort"/>
          <p:cNvSpPr/>
          <p:nvPr/>
        </p:nvSpPr>
        <p:spPr>
          <a:xfrm>
            <a:off x="548640" y="3063240"/>
            <a:ext cx="4937760" cy="1600200"/>
          </a:xfrm>
          <a:prstGeom prst="roundRect">
            <a:avLst>
              <a:gd name="adj" fmla="val 5714"/>
            </a:avLst>
          </a:prstGeom>
          <a:solidFill>
            <a:schemeClr val="accent5">
              <a:lumMod val="75000"/>
            </a:schemeClr>
          </a:solidFill>
          <a:ln w="12700">
            <a:solidFill>
              <a:schemeClr val="tx2"/>
            </a:solidFill>
            <a:prstDash val="solid"/>
          </a:ln>
        </p:spPr>
        <p:txBody>
          <a:bodyPr/>
          <a:lstStyle/>
          <a:p>
            <a:endParaRPr lang="sv-SE"/>
          </a:p>
        </p:txBody>
      </p:sp>
      <p:sp>
        <p:nvSpPr>
          <p:cNvPr id="7" name="Pandas-etikett"/>
          <p:cNvSpPr txBox="1"/>
          <p:nvPr/>
        </p:nvSpPr>
        <p:spPr>
          <a:xfrm>
            <a:off x="777240" y="3154680"/>
            <a:ext cx="1828800" cy="274320"/>
          </a:xfrm>
          <a:prstGeom prst="rect">
            <a:avLst/>
          </a:prstGeom>
          <a:noFill/>
          <a:ln/>
        </p:spPr>
        <p:txBody>
          <a:bodyPr wrap="square" lIns="0" tIns="0" rIns="0" bIns="0" rtlCol="0" anchor="ctr"/>
          <a:lstStyle/>
          <a:p>
            <a:pPr marL="0" indent="0">
              <a:buNone/>
            </a:pPr>
            <a:r>
              <a:rPr lang="en-US" sz="1400" b="1" dirty="0">
                <a:highlight>
                  <a:srgbClr val="FFFF00"/>
                </a:highlight>
              </a:rPr>
              <a:t>PANDAS</a:t>
            </a:r>
            <a:endParaRPr lang="en-US" sz="1400" dirty="0">
              <a:highlight>
                <a:srgbClr val="FFFF00"/>
              </a:highlight>
            </a:endParaRPr>
          </a:p>
        </p:txBody>
      </p:sp>
      <p:sp>
        <p:nvSpPr>
          <p:cNvPr id="8" name="Pandas-kod"/>
          <p:cNvSpPr txBox="1"/>
          <p:nvPr/>
        </p:nvSpPr>
        <p:spPr>
          <a:xfrm>
            <a:off x="777240" y="3474720"/>
            <a:ext cx="4572000" cy="1097280"/>
          </a:xfrm>
          <a:prstGeom prst="rect">
            <a:avLst/>
          </a:prstGeom>
          <a:noFill/>
          <a:ln/>
        </p:spPr>
        <p:txBody>
          <a:bodyPr wrap="square" lIns="0" tIns="0" rIns="0" bIns="0" rtlCol="0" anchor="t"/>
          <a:lstStyle/>
          <a:p>
            <a:pPr marL="0" indent="0">
              <a:buNone/>
            </a:pPr>
            <a:r>
              <a:rPr lang="en-US" sz="1200" dirty="0">
                <a:solidFill>
                  <a:schemeClr val="bg1"/>
                </a:solidFill>
                <a:latin typeface="Courier New" pitchFamily="34" charset="0"/>
                <a:ea typeface="Courier New" pitchFamily="34" charset="-122"/>
                <a:cs typeface="Courier New" pitchFamily="34" charset="-120"/>
              </a:rPr>
              <a:t>df.groupby("region")["forbrukning_kwh"]</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.sum()</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.reset_index(name="total_kwh")</a:t>
            </a:r>
            <a:endParaRPr lang="en-US" sz="1200" dirty="0"/>
          </a:p>
          <a:p>
            <a:pPr marL="0" indent="0">
              <a:buNone/>
            </a:pPr>
            <a:r>
              <a:rPr lang="en-US" sz="1200" dirty="0">
                <a:solidFill>
                  <a:schemeClr val="bg1"/>
                </a:solidFill>
                <a:latin typeface="Courier New" pitchFamily="34" charset="0"/>
                <a:ea typeface="Courier New" pitchFamily="34" charset="-122"/>
                <a:cs typeface="Courier New" pitchFamily="34" charset="-120"/>
              </a:rPr>
              <a:t>  .sort_values("total_kwh", ascending=False)</a:t>
            </a:r>
            <a:endParaRPr lang="en-US" sz="1200" dirty="0"/>
          </a:p>
        </p:txBody>
      </p:sp>
      <p:sp>
        <p:nvSpPr>
          <p:cNvPr id="9" name="Tabellrubrik"/>
          <p:cNvSpPr txBox="1"/>
          <p:nvPr/>
        </p:nvSpPr>
        <p:spPr>
          <a:xfrm>
            <a:off x="5760720" y="1325880"/>
            <a:ext cx="2834640" cy="320040"/>
          </a:xfrm>
          <a:prstGeom prst="rect">
            <a:avLst/>
          </a:prstGeom>
          <a:noFill/>
          <a:ln/>
        </p:spPr>
        <p:txBody>
          <a:bodyPr wrap="square" lIns="0" tIns="0" rIns="0" bIns="0" rtlCol="0" anchor="ctr"/>
          <a:lstStyle/>
          <a:p>
            <a:pPr marL="0" indent="0">
              <a:buNone/>
            </a:pPr>
            <a:r>
              <a:rPr lang="en-US" b="1" dirty="0">
                <a:solidFill>
                  <a:schemeClr val="tx1"/>
                </a:solidFill>
              </a:rPr>
              <a:t>Total förbrukning per region</a:t>
            </a:r>
            <a:endParaRPr lang="en-US" dirty="0"/>
          </a:p>
        </p:txBody>
      </p:sp>
      <p:graphicFrame>
        <p:nvGraphicFramePr>
          <p:cNvPr id="10" name="Regiontabell"/>
          <p:cNvGraphicFramePr>
            <a:graphicFrameLocks noGrp="1"/>
          </p:cNvGraphicFramePr>
          <p:nvPr>
            <p:extLst>
              <p:ext uri="{D42A27DB-BD31-4B8C-83A1-F6EECF244321}">
                <p14:modId xmlns:p14="http://schemas.microsoft.com/office/powerpoint/2010/main" val="3787421051"/>
              </p:ext>
            </p:extLst>
          </p:nvPr>
        </p:nvGraphicFramePr>
        <p:xfrm>
          <a:off x="5760720" y="1737360"/>
          <a:ext cx="2834640" cy="2084832"/>
        </p:xfrm>
        <a:graphic>
          <a:graphicData uri="http://schemas.openxmlformats.org/drawingml/2006/table">
            <a:tbl>
              <a:tblPr/>
              <a:tblGrid>
                <a:gridCol w="12344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47472">
                <a:tc>
                  <a:txBody>
                    <a:bodyPr/>
                    <a:lstStyle/>
                    <a:p>
                      <a:pPr marL="0" indent="0">
                        <a:buNone/>
                      </a:pPr>
                      <a:r>
                        <a:rPr lang="en-US" sz="1300" b="1" dirty="0">
                          <a:solidFill>
                            <a:srgbClr val="FFFFFF"/>
                          </a:solidFill>
                        </a:rPr>
                        <a:t>Region</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14213D"/>
                    </a:solidFill>
                  </a:tcPr>
                </a:tc>
                <a:tc>
                  <a:txBody>
                    <a:bodyPr/>
                    <a:lstStyle/>
                    <a:p>
                      <a:pPr marL="0" indent="0" algn="r">
                        <a:buNone/>
                      </a:pPr>
                      <a:r>
                        <a:rPr lang="en-US" sz="1300" b="1" dirty="0">
                          <a:solidFill>
                            <a:srgbClr val="FFFFFF"/>
                          </a:solidFill>
                        </a:rPr>
                        <a:t>kWh</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14213D"/>
                    </a:solidFill>
                  </a:tcPr>
                </a:tc>
                <a:extLst>
                  <a:ext uri="{0D108BD9-81ED-4DB2-BD59-A6C34878D82A}">
                    <a16:rowId xmlns:a16="http://schemas.microsoft.com/office/drawing/2014/main" val="10000"/>
                  </a:ext>
                </a:extLst>
              </a:tr>
              <a:tr h="347472">
                <a:tc>
                  <a:txBody>
                    <a:bodyPr/>
                    <a:lstStyle/>
                    <a:p>
                      <a:pPr marL="0" indent="0">
                        <a:buNone/>
                      </a:pPr>
                      <a:r>
                        <a:rPr lang="en-US" sz="1300" dirty="0">
                          <a:solidFill>
                            <a:srgbClr val="14213D"/>
                          </a:solidFill>
                        </a:rPr>
                        <a:t>Stockholm</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tc>
                  <a:txBody>
                    <a:bodyPr/>
                    <a:lstStyle/>
                    <a:p>
                      <a:pPr marL="0" indent="0" algn="r">
                        <a:buNone/>
                      </a:pPr>
                      <a:r>
                        <a:rPr lang="en-US" sz="1300" dirty="0">
                          <a:solidFill>
                            <a:srgbClr val="14213D"/>
                          </a:solidFill>
                        </a:rPr>
                        <a:t>470 684,5</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extLst>
                  <a:ext uri="{0D108BD9-81ED-4DB2-BD59-A6C34878D82A}">
                    <a16:rowId xmlns:a16="http://schemas.microsoft.com/office/drawing/2014/main" val="10001"/>
                  </a:ext>
                </a:extLst>
              </a:tr>
              <a:tr h="347472">
                <a:tc>
                  <a:txBody>
                    <a:bodyPr/>
                    <a:lstStyle/>
                    <a:p>
                      <a:pPr marL="0" indent="0">
                        <a:buNone/>
                      </a:pPr>
                      <a:r>
                        <a:rPr lang="en-US" sz="1300" dirty="0">
                          <a:solidFill>
                            <a:srgbClr val="14213D"/>
                          </a:solidFill>
                        </a:rPr>
                        <a:t>Göteborg</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4213D"/>
                          </a:solidFill>
                        </a:rPr>
                        <a:t>401 241,0</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300" dirty="0">
                          <a:solidFill>
                            <a:srgbClr val="14213D"/>
                          </a:solidFill>
                        </a:rPr>
                        <a:t>Malmö</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tc>
                  <a:txBody>
                    <a:bodyPr/>
                    <a:lstStyle/>
                    <a:p>
                      <a:pPr marL="0" indent="0" algn="r">
                        <a:buNone/>
                      </a:pPr>
                      <a:r>
                        <a:rPr lang="en-US" sz="1300" dirty="0">
                          <a:solidFill>
                            <a:srgbClr val="14213D"/>
                          </a:solidFill>
                        </a:rPr>
                        <a:t>363 570,1</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extLst>
                  <a:ext uri="{0D108BD9-81ED-4DB2-BD59-A6C34878D82A}">
                    <a16:rowId xmlns:a16="http://schemas.microsoft.com/office/drawing/2014/main" val="10003"/>
                  </a:ext>
                </a:extLst>
              </a:tr>
              <a:tr h="347472">
                <a:tc>
                  <a:txBody>
                    <a:bodyPr/>
                    <a:lstStyle/>
                    <a:p>
                      <a:pPr marL="0" indent="0">
                        <a:buNone/>
                      </a:pPr>
                      <a:r>
                        <a:rPr lang="en-US" sz="1300" dirty="0">
                          <a:solidFill>
                            <a:srgbClr val="14213D"/>
                          </a:solidFill>
                        </a:rPr>
                        <a:t>Uppsala</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r">
                        <a:buNone/>
                      </a:pPr>
                      <a:r>
                        <a:rPr lang="en-US" sz="1300" dirty="0">
                          <a:solidFill>
                            <a:srgbClr val="14213D"/>
                          </a:solidFill>
                        </a:rPr>
                        <a:t>218 410,6</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300" dirty="0">
                          <a:solidFill>
                            <a:srgbClr val="14213D"/>
                          </a:solidFill>
                        </a:rPr>
                        <a:t>Umeå</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tc>
                  <a:txBody>
                    <a:bodyPr/>
                    <a:lstStyle/>
                    <a:p>
                      <a:pPr marL="0" indent="0" algn="r">
                        <a:buNone/>
                      </a:pPr>
                      <a:r>
                        <a:rPr lang="en-US" sz="1300" dirty="0">
                          <a:solidFill>
                            <a:srgbClr val="14213D"/>
                          </a:solidFill>
                        </a:rPr>
                        <a:t>182 051,4</a:t>
                      </a:r>
                      <a:endParaRPr lang="en-US" sz="1300" dirty="0"/>
                    </a:p>
                  </a:txBody>
                  <a:tcPr marT="0" marB="0" anchor="ctr">
                    <a:lnL w="0" cap="flat" cmpd="sng" algn="ctr">
                      <a:noFill/>
                    </a:lnL>
                    <a:lnR w="0" cap="flat" cmpd="sng" algn="ctr">
                      <a:noFill/>
                    </a:lnR>
                    <a:lnT w="0" cap="flat" cmpd="sng" algn="ctr">
                      <a:noFill/>
                    </a:lnT>
                    <a:lnB w="0" cap="flat" cmpd="sng" algn="ctr">
                      <a:noFill/>
                    </a:lnB>
                    <a:solidFill>
                      <a:srgbClr val="F1F3F8"/>
                    </a:solidFill>
                  </a:tcPr>
                </a:tc>
                <a:extLst>
                  <a:ext uri="{0D108BD9-81ED-4DB2-BD59-A6C34878D82A}">
                    <a16:rowId xmlns:a16="http://schemas.microsoft.com/office/drawing/2014/main" val="10005"/>
                  </a:ext>
                </a:extLst>
              </a:tr>
            </a:tbl>
          </a:graphicData>
        </a:graphic>
      </p:graphicFrame>
      <p:sp>
        <p:nvSpPr>
          <p:cNvPr id="11" name="Tabellnot"/>
          <p:cNvSpPr txBox="1"/>
          <p:nvPr/>
        </p:nvSpPr>
        <p:spPr>
          <a:xfrm>
            <a:off x="5760720" y="4247534"/>
            <a:ext cx="2834640" cy="278745"/>
          </a:xfrm>
          <a:prstGeom prst="rect">
            <a:avLst/>
          </a:prstGeom>
          <a:solidFill>
            <a:schemeClr val="tx1">
              <a:lumMod val="50000"/>
              <a:lumOff val="50000"/>
            </a:schemeClr>
          </a:solidFill>
          <a:ln/>
        </p:spPr>
        <p:txBody>
          <a:bodyPr wrap="square" lIns="0" tIns="0" rIns="0" bIns="0" rtlCol="0" anchor="t"/>
          <a:lstStyle/>
          <a:p>
            <a:pPr marL="0" indent="0" algn="ctr">
              <a:buNone/>
            </a:pPr>
            <a:r>
              <a:rPr lang="en-US" sz="1400" b="1" i="1" dirty="0">
                <a:highlight>
                  <a:srgbClr val="FFFF00"/>
                </a:highlight>
              </a:rPr>
              <a:t>Samma resultat </a:t>
            </a:r>
            <a:r>
              <a:rPr lang="en-US" sz="1400" b="1" i="1" dirty="0" err="1">
                <a:highlight>
                  <a:srgbClr val="FFFF00"/>
                </a:highlight>
              </a:rPr>
              <a:t>i</a:t>
            </a:r>
            <a:r>
              <a:rPr lang="en-US" sz="1400" b="1" i="1" dirty="0">
                <a:highlight>
                  <a:srgbClr val="FFFF00"/>
                </a:highlight>
              </a:rPr>
              <a:t> </a:t>
            </a:r>
            <a:r>
              <a:rPr lang="en-US" sz="1400" b="1" i="1" dirty="0" err="1">
                <a:highlight>
                  <a:srgbClr val="FFFF00"/>
                </a:highlight>
              </a:rPr>
              <a:t>båda</a:t>
            </a:r>
            <a:r>
              <a:rPr lang="en-US" sz="1400" b="1" i="1" dirty="0">
                <a:highlight>
                  <a:srgbClr val="FFFF00"/>
                </a:highlight>
              </a:rPr>
              <a:t> </a:t>
            </a:r>
            <a:r>
              <a:rPr lang="en-US" sz="1400" b="1" i="1" dirty="0" err="1">
                <a:highlight>
                  <a:srgbClr val="FFFF00"/>
                </a:highlight>
              </a:rPr>
              <a:t>bibioteken</a:t>
            </a:r>
            <a:r>
              <a:rPr lang="en-US" sz="1400" b="1" i="1" dirty="0">
                <a:highlight>
                  <a:srgbClr val="FFFF00"/>
                </a:highlight>
              </a:rPr>
              <a:t>.</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sz="3200" b="1" dirty="0">
                <a:solidFill>
                  <a:schemeClr val="bg1"/>
                </a:solidFill>
              </a:rPr>
              <a:t>Prestanda på en miljon rader</a:t>
            </a:r>
            <a:endParaRPr lang="en-US" sz="3200" dirty="0">
              <a:solidFill>
                <a:schemeClr val="bg1"/>
              </a:solidFill>
            </a:endParaRPr>
          </a:p>
        </p:txBody>
      </p:sp>
      <p:graphicFrame>
        <p:nvGraphicFramePr>
          <p:cNvPr id="3" name="Chart 0"/>
          <p:cNvGraphicFramePr/>
          <p:nvPr>
            <p:extLst>
              <p:ext uri="{D42A27DB-BD31-4B8C-83A1-F6EECF244321}">
                <p14:modId xmlns:p14="http://schemas.microsoft.com/office/powerpoint/2010/main" val="3032528155"/>
              </p:ext>
            </p:extLst>
          </p:nvPr>
        </p:nvGraphicFramePr>
        <p:xfrm>
          <a:off x="548640" y="1280160"/>
          <a:ext cx="493776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4" name="Snabbhetskort 1"/>
          <p:cNvSpPr/>
          <p:nvPr/>
        </p:nvSpPr>
        <p:spPr>
          <a:xfrm>
            <a:off x="5760720" y="1371600"/>
            <a:ext cx="2834640" cy="914400"/>
          </a:xfrm>
          <a:prstGeom prst="roundRect">
            <a:avLst>
              <a:gd name="adj" fmla="val 12000"/>
            </a:avLst>
          </a:prstGeom>
          <a:solidFill>
            <a:schemeClr val="accent1"/>
          </a:solidFill>
          <a:ln w="12700">
            <a:solidFill>
              <a:schemeClr val="accent1"/>
            </a:solidFill>
            <a:prstDash val="solid"/>
          </a:ln>
        </p:spPr>
        <p:txBody>
          <a:bodyPr/>
          <a:lstStyle/>
          <a:p>
            <a:endParaRPr lang="sv-SE"/>
          </a:p>
        </p:txBody>
      </p:sp>
      <p:sp>
        <p:nvSpPr>
          <p:cNvPr id="5" name="Snabbhet tal 1"/>
          <p:cNvSpPr txBox="1"/>
          <p:nvPr/>
        </p:nvSpPr>
        <p:spPr>
          <a:xfrm>
            <a:off x="5943600" y="1444752"/>
            <a:ext cx="2468880" cy="457200"/>
          </a:xfrm>
          <a:prstGeom prst="rect">
            <a:avLst/>
          </a:prstGeom>
          <a:noFill/>
          <a:ln/>
        </p:spPr>
        <p:txBody>
          <a:bodyPr wrap="square" lIns="0" tIns="0" rIns="0" bIns="0" rtlCol="0" anchor="ctr"/>
          <a:lstStyle/>
          <a:p>
            <a:pPr marL="0" indent="0">
              <a:buNone/>
            </a:pPr>
            <a:r>
              <a:rPr lang="en-US" sz="3200" b="1" dirty="0">
                <a:solidFill>
                  <a:schemeClr val="tx1"/>
                </a:solidFill>
              </a:rPr>
              <a:t>13,4×</a:t>
            </a:r>
            <a:endParaRPr lang="en-US" sz="3200" dirty="0"/>
          </a:p>
        </p:txBody>
      </p:sp>
      <p:sp>
        <p:nvSpPr>
          <p:cNvPr id="6" name="Snabbhet text 1"/>
          <p:cNvSpPr txBox="1"/>
          <p:nvPr/>
        </p:nvSpPr>
        <p:spPr>
          <a:xfrm>
            <a:off x="5943600" y="1901952"/>
            <a:ext cx="2468880" cy="292608"/>
          </a:xfrm>
          <a:prstGeom prst="rect">
            <a:avLst/>
          </a:prstGeom>
          <a:noFill/>
          <a:ln/>
        </p:spPr>
        <p:txBody>
          <a:bodyPr wrap="square" lIns="0" tIns="0" rIns="0" bIns="0" rtlCol="0" anchor="t"/>
          <a:lstStyle/>
          <a:p>
            <a:pPr marL="0" indent="0">
              <a:buNone/>
            </a:pPr>
            <a:r>
              <a:rPr lang="en-US" sz="1400" dirty="0">
                <a:solidFill>
                  <a:schemeClr val="tx1"/>
                </a:solidFill>
              </a:rPr>
              <a:t>Polars eager mot Pandas</a:t>
            </a:r>
            <a:endParaRPr lang="en-US" sz="1400" dirty="0"/>
          </a:p>
        </p:txBody>
      </p:sp>
      <p:sp>
        <p:nvSpPr>
          <p:cNvPr id="7" name="Snabbhetskort 2"/>
          <p:cNvSpPr/>
          <p:nvPr/>
        </p:nvSpPr>
        <p:spPr>
          <a:xfrm>
            <a:off x="5760720" y="2468880"/>
            <a:ext cx="2834640" cy="914400"/>
          </a:xfrm>
          <a:prstGeom prst="roundRect">
            <a:avLst>
              <a:gd name="adj" fmla="val 12000"/>
            </a:avLst>
          </a:prstGeom>
          <a:solidFill>
            <a:schemeClr val="accent1"/>
          </a:solidFill>
          <a:ln w="12700">
            <a:solidFill>
              <a:schemeClr val="accent1"/>
            </a:solidFill>
            <a:prstDash val="solid"/>
          </a:ln>
        </p:spPr>
        <p:txBody>
          <a:bodyPr/>
          <a:lstStyle/>
          <a:p>
            <a:endParaRPr lang="sv-SE"/>
          </a:p>
        </p:txBody>
      </p:sp>
      <p:sp>
        <p:nvSpPr>
          <p:cNvPr id="8" name="Snabbhet tal 2"/>
          <p:cNvSpPr txBox="1"/>
          <p:nvPr/>
        </p:nvSpPr>
        <p:spPr>
          <a:xfrm>
            <a:off x="5943600" y="2542032"/>
            <a:ext cx="2468880" cy="457200"/>
          </a:xfrm>
          <a:prstGeom prst="rect">
            <a:avLst/>
          </a:prstGeom>
          <a:noFill/>
          <a:ln/>
        </p:spPr>
        <p:txBody>
          <a:bodyPr wrap="square" lIns="0" tIns="0" rIns="0" bIns="0" rtlCol="0" anchor="ctr"/>
          <a:lstStyle/>
          <a:p>
            <a:pPr marL="0" indent="0">
              <a:buNone/>
            </a:pPr>
            <a:r>
              <a:rPr lang="en-US" sz="3200" b="1" dirty="0">
                <a:solidFill>
                  <a:schemeClr val="tx1"/>
                </a:solidFill>
              </a:rPr>
              <a:t>10,2×</a:t>
            </a:r>
            <a:endParaRPr lang="en-US" sz="3200" dirty="0"/>
          </a:p>
        </p:txBody>
      </p:sp>
      <p:sp>
        <p:nvSpPr>
          <p:cNvPr id="9" name="Snabbhet text 2"/>
          <p:cNvSpPr txBox="1"/>
          <p:nvPr/>
        </p:nvSpPr>
        <p:spPr>
          <a:xfrm>
            <a:off x="5943600" y="2999232"/>
            <a:ext cx="2468880" cy="292608"/>
          </a:xfrm>
          <a:prstGeom prst="rect">
            <a:avLst/>
          </a:prstGeom>
          <a:noFill/>
          <a:ln/>
        </p:spPr>
        <p:txBody>
          <a:bodyPr wrap="square" lIns="0" tIns="0" rIns="0" bIns="0" rtlCol="0" anchor="t"/>
          <a:lstStyle/>
          <a:p>
            <a:pPr marL="0" indent="0">
              <a:buNone/>
            </a:pPr>
            <a:r>
              <a:rPr lang="en-US" sz="1400" dirty="0">
                <a:solidFill>
                  <a:schemeClr val="tx1"/>
                </a:solidFill>
              </a:rPr>
              <a:t>Polars lazy mot Pandas</a:t>
            </a:r>
            <a:endParaRPr lang="en-US" sz="1400" dirty="0"/>
          </a:p>
        </p:txBody>
      </p:sp>
      <p:sp>
        <p:nvSpPr>
          <p:cNvPr id="10" name="Notkort"/>
          <p:cNvSpPr/>
          <p:nvPr/>
        </p:nvSpPr>
        <p:spPr>
          <a:xfrm>
            <a:off x="5760720" y="3611880"/>
            <a:ext cx="2834640" cy="1051560"/>
          </a:xfrm>
          <a:prstGeom prst="roundRect">
            <a:avLst>
              <a:gd name="adj" fmla="val 10435"/>
            </a:avLst>
          </a:prstGeom>
          <a:solidFill>
            <a:schemeClr val="tx1">
              <a:lumMod val="25000"/>
              <a:lumOff val="75000"/>
            </a:schemeClr>
          </a:solidFill>
          <a:ln w="12700">
            <a:solidFill>
              <a:schemeClr val="bg2"/>
            </a:solidFill>
            <a:prstDash val="solid"/>
          </a:ln>
        </p:spPr>
        <p:txBody>
          <a:bodyPr/>
          <a:lstStyle/>
          <a:p>
            <a:endParaRPr lang="sv-SE"/>
          </a:p>
        </p:txBody>
      </p:sp>
      <p:sp>
        <p:nvSpPr>
          <p:cNvPr id="11" name="Not"/>
          <p:cNvSpPr txBox="1"/>
          <p:nvPr/>
        </p:nvSpPr>
        <p:spPr>
          <a:xfrm>
            <a:off x="5943600" y="3703320"/>
            <a:ext cx="2468880" cy="868680"/>
          </a:xfrm>
          <a:prstGeom prst="rect">
            <a:avLst/>
          </a:prstGeom>
          <a:noFill/>
          <a:ln/>
        </p:spPr>
        <p:txBody>
          <a:bodyPr wrap="square" lIns="0" tIns="0" rIns="0" bIns="0" rtlCol="0" anchor="ctr"/>
          <a:lstStyle/>
          <a:p>
            <a:pPr marL="0" indent="0">
              <a:buNone/>
            </a:pPr>
            <a:r>
              <a:rPr lang="en-US" sz="1400" dirty="0" err="1">
                <a:highlight>
                  <a:srgbClr val="FFFF00"/>
                </a:highlight>
              </a:rPr>
              <a:t>Obs: en körning per variant</a:t>
            </a:r>
          </a:p>
          <a:p>
            <a:pPr marL="0" indent="0">
              <a:buNone/>
            </a:pPr>
            <a:r>
              <a:rPr lang="en-US" sz="1400" dirty="0">
                <a:highlight>
                  <a:srgbClr val="FFFF00"/>
                </a:highlight>
              </a:rPr>
              <a:t>på min dator. Inget exakt test.</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8046720" cy="731520"/>
          </a:xfrm>
          <a:prstGeom prst="rect">
            <a:avLst/>
          </a:prstGeom>
          <a:noFill/>
          <a:ln/>
        </p:spPr>
        <p:txBody>
          <a:bodyPr wrap="square" lIns="0" tIns="0" rIns="0" bIns="0" rtlCol="0" anchor="ctr"/>
          <a:lstStyle/>
          <a:p>
            <a:pPr marL="0" indent="0" algn="l">
              <a:buNone/>
            </a:pPr>
            <a:r>
              <a:rPr lang="en-US" dirty="0" err="1"/>
              <a:t>Lärdomar</a:t>
            </a:r>
            <a:r>
              <a:rPr lang="en-US" dirty="0"/>
              <a:t> &amp; </a:t>
            </a:r>
            <a:r>
              <a:rPr lang="en-US" dirty="0" err="1"/>
              <a:t>Begränsningar</a:t>
            </a:r>
            <a:endParaRPr lang="en-US" sz="3200" dirty="0"/>
          </a:p>
        </p:txBody>
      </p:sp>
      <p:sp>
        <p:nvSpPr>
          <p:cNvPr id="3" name="Kolumnkort 1"/>
          <p:cNvSpPr/>
          <p:nvPr/>
        </p:nvSpPr>
        <p:spPr>
          <a:xfrm>
            <a:off x="548640" y="1325880"/>
            <a:ext cx="3840480" cy="2286000"/>
          </a:xfrm>
          <a:prstGeom prst="roundRect">
            <a:avLst>
              <a:gd name="adj" fmla="val 4800"/>
            </a:avLst>
          </a:prstGeom>
          <a:solidFill>
            <a:schemeClr val="accent2">
              <a:lumMod val="75000"/>
            </a:schemeClr>
          </a:solidFill>
          <a:ln w="12700">
            <a:solidFill>
              <a:schemeClr val="tx2"/>
            </a:solidFill>
            <a:prstDash val="solid"/>
          </a:ln>
        </p:spPr>
        <p:txBody>
          <a:bodyPr/>
          <a:lstStyle/>
          <a:p>
            <a:endParaRPr lang="sv-SE" dirty="0"/>
          </a:p>
        </p:txBody>
      </p:sp>
      <p:sp>
        <p:nvSpPr>
          <p:cNvPr id="6" name="Kolumnrubrik 1"/>
          <p:cNvSpPr txBox="1"/>
          <p:nvPr/>
        </p:nvSpPr>
        <p:spPr>
          <a:xfrm>
            <a:off x="1120140" y="1482213"/>
            <a:ext cx="2743200" cy="502920"/>
          </a:xfrm>
          <a:prstGeom prst="rect">
            <a:avLst/>
          </a:prstGeom>
          <a:noFill/>
          <a:ln/>
        </p:spPr>
        <p:txBody>
          <a:bodyPr wrap="square" lIns="0" tIns="0" rIns="0" bIns="0" rtlCol="0" anchor="ctr"/>
          <a:lstStyle/>
          <a:p>
            <a:pPr marL="0" indent="0">
              <a:buNone/>
            </a:pPr>
            <a:r>
              <a:rPr lang="en-US" sz="1800" b="1" dirty="0">
                <a:solidFill>
                  <a:schemeClr val="bg1"/>
                </a:solidFill>
              </a:rPr>
              <a:t>Det </a:t>
            </a:r>
            <a:r>
              <a:rPr lang="en-US" sz="1800" b="1" dirty="0" err="1">
                <a:solidFill>
                  <a:schemeClr val="bg1"/>
                </a:solidFill>
              </a:rPr>
              <a:t>här</a:t>
            </a:r>
            <a:r>
              <a:rPr lang="en-US" sz="1800" b="1" dirty="0">
                <a:solidFill>
                  <a:schemeClr val="bg1"/>
                </a:solidFill>
              </a:rPr>
              <a:t> </a:t>
            </a:r>
            <a:r>
              <a:rPr lang="en-US" b="1" dirty="0" err="1">
                <a:solidFill>
                  <a:schemeClr val="bg1"/>
                </a:solidFill>
              </a:rPr>
              <a:t>lärde</a:t>
            </a:r>
            <a:r>
              <a:rPr lang="en-US" b="1" dirty="0">
                <a:solidFill>
                  <a:schemeClr val="bg1"/>
                </a:solidFill>
              </a:rPr>
              <a:t> jag </a:t>
            </a:r>
            <a:r>
              <a:rPr lang="en-US" b="1" dirty="0" err="1">
                <a:solidFill>
                  <a:schemeClr val="bg1"/>
                </a:solidFill>
              </a:rPr>
              <a:t>mig</a:t>
            </a:r>
            <a:endParaRPr lang="en-US" sz="1800" dirty="0"/>
          </a:p>
        </p:txBody>
      </p:sp>
      <p:sp>
        <p:nvSpPr>
          <p:cNvPr id="7" name="Kolumnpunkter 1"/>
          <p:cNvSpPr txBox="1"/>
          <p:nvPr/>
        </p:nvSpPr>
        <p:spPr>
          <a:xfrm>
            <a:off x="777240" y="2194560"/>
            <a:ext cx="3429000" cy="1600200"/>
          </a:xfrm>
          <a:prstGeom prst="rect">
            <a:avLst/>
          </a:prstGeom>
          <a:noFill/>
          <a:ln/>
        </p:spPr>
        <p:txBody>
          <a:bodyPr wrap="square" lIns="0" tIns="0" rIns="0" bIns="0" rtlCol="0" anchor="t"/>
          <a:lstStyle/>
          <a:p>
            <a:pPr marL="342900" indent="-342900">
              <a:spcAft>
                <a:spcPts val="800"/>
              </a:spcAft>
              <a:buSzPct val="100000"/>
              <a:buChar char="•"/>
            </a:pPr>
            <a:r>
              <a:rPr lang="en-US" sz="1400" dirty="0" err="1">
                <a:highlight>
                  <a:srgbClr val="FFFF00"/>
                </a:highlight>
              </a:rPr>
              <a:t>Grunderna: läsa in, filtrera, sortera, gruppera</a:t>
            </a:r>
            <a:endParaRPr lang="en-US" sz="1400" dirty="0">
              <a:highlight>
                <a:srgbClr val="FFFF00"/>
              </a:highlight>
            </a:endParaRPr>
          </a:p>
          <a:p>
            <a:pPr marL="342900" indent="-342900">
              <a:spcAft>
                <a:spcPts val="800"/>
              </a:spcAft>
              <a:buSzPct val="100000"/>
              <a:buChar char="•"/>
            </a:pPr>
            <a:r>
              <a:rPr lang="en-US" sz="1400" dirty="0" err="1">
                <a:highlight>
                  <a:srgbClr val="FFFF00"/>
                </a:highlight>
              </a:rPr>
              <a:t>Tänka i uttryck med pl.col()</a:t>
            </a:r>
          </a:p>
          <a:p>
            <a:pPr marL="342900" indent="-342900">
              <a:spcAft>
                <a:spcPts val="800"/>
              </a:spcAft>
              <a:buSzPct val="100000"/>
              <a:buChar char="•"/>
            </a:pPr>
            <a:r>
              <a:rPr lang="en-US" sz="1400" dirty="0">
                <a:highlight>
                  <a:srgbClr val="FFFF00"/>
                </a:highlight>
              </a:rPr>
              <a:t>Lazy evaluation och explain()</a:t>
            </a:r>
          </a:p>
          <a:p>
            <a:pPr>
              <a:spcAft>
                <a:spcPts val="800"/>
              </a:spcAft>
              <a:buSzPct val="100000"/>
            </a:pPr>
            <a:endParaRPr lang="en-US" sz="1500" dirty="0"/>
          </a:p>
        </p:txBody>
      </p:sp>
      <p:sp>
        <p:nvSpPr>
          <p:cNvPr id="8" name="Kolumnkort 2"/>
          <p:cNvSpPr/>
          <p:nvPr/>
        </p:nvSpPr>
        <p:spPr>
          <a:xfrm>
            <a:off x="4754880" y="1325880"/>
            <a:ext cx="3840480" cy="2286000"/>
          </a:xfrm>
          <a:prstGeom prst="roundRect">
            <a:avLst>
              <a:gd name="adj" fmla="val 4800"/>
            </a:avLst>
          </a:prstGeom>
          <a:solidFill>
            <a:schemeClr val="accent2">
              <a:lumMod val="75000"/>
            </a:schemeClr>
          </a:solidFill>
          <a:ln w="12700">
            <a:solidFill>
              <a:schemeClr val="tx2"/>
            </a:solidFill>
            <a:prstDash val="solid"/>
          </a:ln>
        </p:spPr>
        <p:txBody>
          <a:bodyPr/>
          <a:lstStyle/>
          <a:p>
            <a:endParaRPr lang="sv-SE" dirty="0"/>
          </a:p>
        </p:txBody>
      </p:sp>
      <p:sp>
        <p:nvSpPr>
          <p:cNvPr id="11" name="Kolumnrubrik 2"/>
          <p:cNvSpPr txBox="1"/>
          <p:nvPr/>
        </p:nvSpPr>
        <p:spPr>
          <a:xfrm>
            <a:off x="5326380" y="1508760"/>
            <a:ext cx="2743200" cy="502920"/>
          </a:xfrm>
          <a:prstGeom prst="rect">
            <a:avLst/>
          </a:prstGeom>
          <a:noFill/>
          <a:ln/>
        </p:spPr>
        <p:txBody>
          <a:bodyPr wrap="square" lIns="0" tIns="0" rIns="0" bIns="0" rtlCol="0" anchor="ctr"/>
          <a:lstStyle/>
          <a:p>
            <a:pPr marL="0" indent="0">
              <a:buNone/>
            </a:pPr>
            <a:r>
              <a:rPr lang="en-US" b="1" dirty="0" err="1">
                <a:solidFill>
                  <a:schemeClr val="bg1"/>
                </a:solidFill>
              </a:rPr>
              <a:t>Begränsningar</a:t>
            </a:r>
            <a:endParaRPr lang="en-US" sz="1800" dirty="0">
              <a:solidFill>
                <a:schemeClr val="bg1"/>
              </a:solidFill>
            </a:endParaRPr>
          </a:p>
        </p:txBody>
      </p:sp>
      <p:sp>
        <p:nvSpPr>
          <p:cNvPr id="12" name="Kolumnpunkter 2"/>
          <p:cNvSpPr txBox="1"/>
          <p:nvPr/>
        </p:nvSpPr>
        <p:spPr>
          <a:xfrm>
            <a:off x="4983480" y="2194560"/>
            <a:ext cx="3429000" cy="1600200"/>
          </a:xfrm>
          <a:prstGeom prst="rect">
            <a:avLst/>
          </a:prstGeom>
          <a:noFill/>
          <a:ln/>
        </p:spPr>
        <p:txBody>
          <a:bodyPr wrap="square" lIns="0" tIns="0" rIns="0" bIns="0" rtlCol="0" anchor="t"/>
          <a:lstStyle/>
          <a:p>
            <a:pPr marL="342900" indent="-342900">
              <a:spcAft>
                <a:spcPts val="800"/>
              </a:spcAft>
              <a:buSzPct val="100000"/>
              <a:buChar char="•"/>
            </a:pPr>
            <a:r>
              <a:rPr lang="en-US" sz="1500" dirty="0" err="1">
                <a:highlight>
                  <a:srgbClr val="FFFF00"/>
                </a:highlight>
              </a:rPr>
              <a:t>Syntetisk data, inte riktig förbrukning</a:t>
            </a:r>
            <a:endParaRPr lang="en-US" sz="1500" dirty="0">
              <a:highlight>
                <a:srgbClr val="FFFF00"/>
              </a:highlight>
            </a:endParaRPr>
          </a:p>
          <a:p>
            <a:pPr marL="342900" indent="-342900">
              <a:spcAft>
                <a:spcPts val="800"/>
              </a:spcAft>
              <a:buSzPct val="100000"/>
              <a:buChar char="•"/>
            </a:pPr>
            <a:r>
              <a:rPr lang="en-US" sz="1500" dirty="0" err="1">
                <a:highlight>
                  <a:srgbClr val="FFFF00"/>
                </a:highlight>
              </a:rPr>
              <a:t>Varje test kördes bara en gång</a:t>
            </a:r>
            <a:endParaRPr lang="en-US" sz="1500" dirty="0">
              <a:highlight>
                <a:srgbClr val="FFFF00"/>
              </a:highlight>
            </a:endParaRPr>
          </a:p>
          <a:p>
            <a:pPr marL="342900" indent="-342900">
              <a:spcAft>
                <a:spcPts val="800"/>
              </a:spcAft>
              <a:buSzPct val="100000"/>
              <a:buChar char="•"/>
            </a:pPr>
            <a:r>
              <a:rPr lang="en-US" sz="1500" dirty="0">
                <a:highlight>
                  <a:srgbClr val="FFFF00"/>
                </a:highlight>
              </a:rPr>
              <a:t>Bara grunderna, inte stora filer</a:t>
            </a:r>
          </a:p>
          <a:p>
            <a:pPr>
              <a:spcAft>
                <a:spcPts val="800"/>
              </a:spcAft>
              <a:buSzPct val="100000"/>
            </a:pPr>
            <a:endParaRPr lang="en-US" sz="1500" dirty="0"/>
          </a:p>
        </p:txBody>
      </p:sp>
      <p:sp>
        <p:nvSpPr>
          <p:cNvPr id="13" name="Tack"/>
          <p:cNvSpPr txBox="1"/>
          <p:nvPr/>
        </p:nvSpPr>
        <p:spPr>
          <a:xfrm>
            <a:off x="548640" y="3931920"/>
            <a:ext cx="4572000" cy="502920"/>
          </a:xfrm>
          <a:prstGeom prst="rect">
            <a:avLst/>
          </a:prstGeom>
          <a:noFill/>
          <a:ln/>
        </p:spPr>
        <p:txBody>
          <a:bodyPr wrap="square" lIns="0" tIns="0" rIns="0" bIns="0" rtlCol="0" anchor="ctr"/>
          <a:lstStyle/>
          <a:p>
            <a:pPr marL="0" indent="0">
              <a:buNone/>
            </a:pPr>
            <a:r>
              <a:rPr lang="en-US" sz="2000" b="1" dirty="0">
                <a:highlight>
                  <a:srgbClr val="FFFF00"/>
                </a:highlight>
              </a:rPr>
              <a:t>Tack för </a:t>
            </a:r>
            <a:r>
              <a:rPr lang="en-US" sz="2000" b="1" dirty="0" err="1">
                <a:highlight>
                  <a:srgbClr val="FFFF00"/>
                </a:highlight>
              </a:rPr>
              <a:t>att</a:t>
            </a:r>
            <a:r>
              <a:rPr lang="en-US" sz="2000" b="1" dirty="0">
                <a:highlight>
                  <a:srgbClr val="FFFF00"/>
                </a:highlight>
              </a:rPr>
              <a:t> </a:t>
            </a:r>
            <a:r>
              <a:rPr lang="en-US" sz="2000" b="1" dirty="0" err="1">
                <a:highlight>
                  <a:srgbClr val="FFFF00"/>
                </a:highlight>
              </a:rPr>
              <a:t>ni</a:t>
            </a:r>
            <a:r>
              <a:rPr lang="en-US" sz="2000" b="1" dirty="0">
                <a:highlight>
                  <a:srgbClr val="FFFF00"/>
                </a:highlight>
              </a:rPr>
              <a:t> </a:t>
            </a:r>
            <a:r>
              <a:rPr lang="en-US" sz="2000" b="1" dirty="0" err="1">
                <a:highlight>
                  <a:srgbClr val="FFFF00"/>
                </a:highlight>
              </a:rPr>
              <a:t>lyssnade</a:t>
            </a:r>
            <a:r>
              <a:rPr lang="en-US" sz="2000" b="1" dirty="0">
                <a:highlight>
                  <a:srgbClr val="FFFF00"/>
                </a:highlight>
              </a:rPr>
              <a:t>! </a:t>
            </a:r>
          </a:p>
          <a:p>
            <a:pPr marL="0" indent="0">
              <a:buNone/>
            </a:pPr>
            <a:r>
              <a:rPr lang="en-US" sz="2000" b="1" dirty="0" err="1">
                <a:highlight>
                  <a:srgbClr val="FFFF00"/>
                </a:highlight>
              </a:rPr>
              <a:t>Frågor</a:t>
            </a:r>
            <a:r>
              <a:rPr lang="en-US" sz="2000" b="1" dirty="0">
                <a:highlight>
                  <a:srgbClr val="FFFF00"/>
                </a:highlight>
              </a:rPr>
              <a:t>?</a:t>
            </a:r>
            <a:endParaRPr lang="en-US" sz="2000" dirty="0">
              <a:highlight>
                <a:srgbClr val="FFFF00"/>
              </a:highlight>
            </a:endParaRP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bg2"/>
                </a:solidFill>
              </a:defRPr>
            </a:lvl1pPr>
          </a:lstStyle>
          <a:p>
            <a:pPr algn="l"/>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Polars Spanning">
  <a:themeElements>
    <a:clrScheme name="Polars Spanning">
      <a:dk1>
        <a:srgbClr val="14213D"/>
      </a:dk1>
      <a:lt1>
        <a:srgbClr val="FFFFFF"/>
      </a:lt1>
      <a:dk2>
        <a:srgbClr val="22345E"/>
      </a:dk2>
      <a:lt2>
        <a:srgbClr val="F1F3F8"/>
      </a:lt2>
      <a:accent1>
        <a:srgbClr val="FCA311"/>
      </a:accent1>
      <a:accent2>
        <a:srgbClr val="5C6B8A"/>
      </a:accent2>
      <a:accent3>
        <a:srgbClr val="D98200"/>
      </a:accent3>
      <a:accent4>
        <a:srgbClr val="8D99AE"/>
      </a:accent4>
      <a:accent5>
        <a:srgbClr val="2A9D8F"/>
      </a:accent5>
      <a:accent6>
        <a:srgbClr val="FFD166"/>
      </a:accent6>
      <a:hlink>
        <a:srgbClr val="3B82F6"/>
      </a:hlink>
      <a:folHlink>
        <a:srgbClr val="8D99AE"/>
      </a:folHlink>
    </a:clrScheme>
    <a:fontScheme name="Polars Span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2014</TotalTime>
  <Words>1250</Words>
  <Application>Microsoft Office PowerPoint</Application>
  <PresentationFormat>Bildspel på skärmen (16:9)</PresentationFormat>
  <Paragraphs>107</Paragraphs>
  <Slides>7</Slides>
  <Notes>7</Notes>
  <HiddenSlides>0</HiddenSlides>
  <MMClips>0</MMClips>
  <ScaleCrop>false</ScaleCrop>
  <HeadingPairs>
    <vt:vector size="6" baseType="variant">
      <vt:variant>
        <vt:lpstr>Använt teckensnitt</vt:lpstr>
      </vt:variant>
      <vt:variant>
        <vt:i4>3</vt:i4>
      </vt:variant>
      <vt:variant>
        <vt:lpstr>Tema</vt:lpstr>
      </vt:variant>
      <vt:variant>
        <vt:i4>1</vt:i4>
      </vt:variant>
      <vt:variant>
        <vt:lpstr>Bildrubriker</vt:lpstr>
      </vt:variant>
      <vt:variant>
        <vt:i4>7</vt:i4>
      </vt:variant>
    </vt:vector>
  </HeadingPairs>
  <TitlesOfParts>
    <vt:vector size="11" baseType="lpstr">
      <vt:lpstr>Arial</vt:lpstr>
      <vt:lpstr>Calibri</vt:lpstr>
      <vt:lpstr>Courier New</vt:lpstr>
      <vt:lpstr>Polars Spanning</vt:lpstr>
      <vt:lpstr>Fördjupning i Polars</vt:lpstr>
      <vt:lpstr>Varför Polars?</vt:lpstr>
      <vt:lpstr>Fyra begrepp bakom hastigheten</vt:lpstr>
      <vt:lpstr>Vad jag byggde</vt:lpstr>
      <vt:lpstr>Samma uppgift, två bibliotek</vt:lpstr>
      <vt:lpstr>Prestanda på en miljon rader</vt:lpstr>
      <vt:lpstr>Lärdomar &amp; Begränsningar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Fördjupning i Polars</dc:title>
  <dc:subject>PptxGenJS Presentation</dc:subject>
  <dc:creator>Kim</dc:creator>
  <cp:lastModifiedBy>Irfan Pallani</cp:lastModifiedBy>
  <cp:revision>6</cp:revision>
  <dcterms:created xsi:type="dcterms:W3CDTF">2026-10-06T18:17:05Z</dcterms:created>
  <dcterms:modified xsi:type="dcterms:W3CDTF">2026-10-13T06:17:35Z</dcterms:modified>
</cp:coreProperties>
</file>