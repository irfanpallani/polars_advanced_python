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4CBDDCF-4876-C663-1C27-B5EB0EC604EF}">
          <p14:sldIdLst>
            <p14:sldId id="256"/>
          </p14:sldIdLst>
        </p14:section>
        <p14:section name="Innehåll" id="{BDFD2C1B-0D2B-26B6-5662-45F1A4F03137}">
          <p14:sldIdLst>
            <p14:sldId id="257"/>
            <p14:sldId id="258"/>
            <p14:sldId id="259"/>
            <p14:sldId id="260"/>
            <p14:sldId id="261"/>
          </p14:sldIdLst>
        </p14:section>
        <p14:section name="Avslut" id="{0642778E-2122-7ABA-6867-C2E52B827E9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lang="sv-SE" sz="1600" b="0" i="0" u="none" strike="noStrike" dirty="0">
                <a:solidFill>
                  <a:srgbClr val="14213D"/>
                </a:solidFill>
                <a:latin typeface="+mn-lt"/>
              </a:rPr>
              <a:t>Tid i sekunder (lägre är bättre)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Tid (s)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D0-4C17-BC69-B329C6E679AC}"/>
              </c:ext>
            </c:extLst>
          </c:dPt>
          <c:dPt>
            <c:idx val="1"/>
            <c:invertIfNegative val="0"/>
            <c:bubble3D val="0"/>
            <c:spPr>
              <a:solidFill>
                <a:srgbClr val="FCA3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D0-4C17-BC69-B329C6E679AC}"/>
              </c:ext>
            </c:extLst>
          </c:dPt>
          <c:dPt>
            <c:idx val="2"/>
            <c:invertIfNegative val="0"/>
            <c:bubble3D val="0"/>
            <c:spPr>
              <a:solidFill>
                <a:srgbClr val="D982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D0-4C17-BC69-B329C6E679AC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Pandas</c:v>
                </c:pt>
                <c:pt idx="1">
                  <c:v>Polars (eager)</c:v>
                </c:pt>
                <c:pt idx="2">
                  <c:v>Polars (lazy)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1.218</c:v>
                </c:pt>
                <c:pt idx="1">
                  <c:v>0.52200000000000002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D0-4C17-BC69-B329C6E679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5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3035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36204" y="474898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Fördjupning i Polars</a:t>
            </a:r>
            <a:endParaRPr lang="en-US" sz="4400" dirty="0"/>
          </a:p>
        </p:txBody>
      </p:sp>
      <p:sp>
        <p:nvSpPr>
          <p:cNvPr id="3" name="Undertitel"/>
          <p:cNvSpPr txBox="1"/>
          <p:nvPr/>
        </p:nvSpPr>
        <p:spPr>
          <a:xfrm>
            <a:off x="1336204" y="3035957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000"/>
                </a:solidFill>
              </a:rPr>
              <a:t>Är det verkligen snabbare än Pandas?</a:t>
            </a:r>
          </a:p>
        </p:txBody>
      </p:sp>
      <p:sp>
        <p:nvSpPr>
          <p:cNvPr id="4" name="Avsändare"/>
          <p:cNvSpPr txBox="1"/>
          <p:nvPr/>
        </p:nvSpPr>
        <p:spPr>
          <a:xfrm>
            <a:off x="64008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sz="1400" i="1" dirty="0">
                <a:solidFill>
                  <a:schemeClr val="bg2"/>
                </a:solidFill>
              </a:rPr>
              <a:t>Irfan  ·  Avancerad Python för Data Scientist  ·  EC Utbildning</a:t>
            </a:r>
            <a:endParaRPr lang="en-US" sz="1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chemeClr val="tx1"/>
                </a:solidFill>
              </a:rPr>
              <a:t>Varför Polars?</a:t>
            </a:r>
            <a:endParaRPr lang="en-US" sz="3200" dirty="0"/>
          </a:p>
        </p:txBody>
      </p:sp>
      <p:sp>
        <p:nvSpPr>
          <p:cNvPr id="3" name="Frågepanel"/>
          <p:cNvSpPr/>
          <p:nvPr/>
        </p:nvSpPr>
        <p:spPr>
          <a:xfrm>
            <a:off x="548640" y="13716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92D050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 dirty="0"/>
          </a:p>
        </p:txBody>
      </p:sp>
      <p:sp>
        <p:nvSpPr>
          <p:cNvPr id="4" name="Huvudfråga"/>
          <p:cNvSpPr txBox="1"/>
          <p:nvPr/>
        </p:nvSpPr>
        <p:spPr>
          <a:xfrm>
            <a:off x="822960" y="1645920"/>
            <a:ext cx="2743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Är Polars verkligen snabbare än Pandas – och varför?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Bakgrund"/>
          <p:cNvSpPr txBox="1"/>
          <p:nvPr/>
        </p:nvSpPr>
        <p:spPr>
          <a:xfrm>
            <a:off x="82296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 </a:t>
            </a:r>
            <a:r>
              <a:rPr lang="en-US" sz="1400" dirty="0" err="1">
                <a:solidFill>
                  <a:schemeClr val="tx2"/>
                </a:solidFill>
              </a:rPr>
              <a:t>kursen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har</a:t>
            </a:r>
            <a:r>
              <a:rPr lang="en-US" sz="1400" dirty="0">
                <a:solidFill>
                  <a:schemeClr val="tx2"/>
                </a:solidFill>
              </a:rPr>
              <a:t> vi </a:t>
            </a:r>
            <a:r>
              <a:rPr lang="en-US" sz="1400" dirty="0" err="1">
                <a:solidFill>
                  <a:schemeClr val="tx2"/>
                </a:solidFill>
              </a:rPr>
              <a:t>kört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mest</a:t>
            </a:r>
            <a:r>
              <a:rPr lang="en-US" sz="1400" dirty="0">
                <a:solidFill>
                  <a:schemeClr val="tx2"/>
                </a:solidFill>
              </a:rPr>
              <a:t> Pandas.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Polars </a:t>
            </a:r>
            <a:r>
              <a:rPr lang="en-US" sz="1400" dirty="0" err="1">
                <a:solidFill>
                  <a:schemeClr val="tx2"/>
                </a:solidFill>
              </a:rPr>
              <a:t>dyker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upp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hela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tiden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så</a:t>
            </a:r>
            <a:r>
              <a:rPr lang="en-US" sz="1400" dirty="0">
                <a:solidFill>
                  <a:schemeClr val="tx2"/>
                </a:solidFill>
              </a:rPr>
              <a:t> jag </a:t>
            </a:r>
            <a:r>
              <a:rPr lang="en-US" sz="1400" dirty="0" err="1">
                <a:solidFill>
                  <a:schemeClr val="tx2"/>
                </a:solidFill>
              </a:rPr>
              <a:t>ville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testa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själv</a:t>
            </a:r>
            <a:endParaRPr lang="en-US" sz="1400" dirty="0"/>
          </a:p>
        </p:txBody>
      </p:sp>
      <p:sp>
        <p:nvSpPr>
          <p:cNvPr id="8" name="Mål rubrik 1"/>
          <p:cNvSpPr txBox="1"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Lära mig grunderna</a:t>
            </a:r>
            <a:endParaRPr lang="en-US" sz="1800" dirty="0"/>
          </a:p>
        </p:txBody>
      </p:sp>
      <p:sp>
        <p:nvSpPr>
          <p:cNvPr id="9" name="Mål text 1"/>
          <p:cNvSpPr txBox="1"/>
          <p:nvPr/>
        </p:nvSpPr>
        <p:spPr>
          <a:xfrm>
            <a:off x="5120640" y="1755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Läsa in, filtrera, sortera och gruppera</a:t>
            </a:r>
            <a:endParaRPr lang="en-US" sz="1400" dirty="0"/>
          </a:p>
        </p:txBody>
      </p:sp>
      <p:sp>
        <p:nvSpPr>
          <p:cNvPr id="12" name="Mål rubrik 2"/>
          <p:cNvSpPr txBox="1"/>
          <p:nvPr/>
        </p:nvSpPr>
        <p:spPr>
          <a:xfrm>
            <a:off x="51206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Förstå varför det är snabbt</a:t>
            </a:r>
            <a:endParaRPr lang="en-US" sz="1800" dirty="0"/>
          </a:p>
        </p:txBody>
      </p:sp>
      <p:sp>
        <p:nvSpPr>
          <p:cNvPr id="13" name="Mål text 2"/>
          <p:cNvSpPr txBox="1"/>
          <p:nvPr/>
        </p:nvSpPr>
        <p:spPr>
          <a:xfrm>
            <a:off x="512064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Vad som ligger bakom skillnaden</a:t>
            </a:r>
            <a:endParaRPr lang="en-US" sz="1400" dirty="0"/>
          </a:p>
        </p:txBody>
      </p:sp>
      <p:sp>
        <p:nvSpPr>
          <p:cNvPr id="16" name="Mål rubrik 3"/>
          <p:cNvSpPr txBox="1"/>
          <p:nvPr/>
        </p:nvSpPr>
        <p:spPr>
          <a:xfrm>
            <a:off x="512064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Testa själv</a:t>
            </a:r>
            <a:endParaRPr lang="en-US" sz="1800" dirty="0"/>
          </a:p>
        </p:txBody>
      </p:sp>
      <p:sp>
        <p:nvSpPr>
          <p:cNvPr id="17" name="Mål text 3"/>
          <p:cNvSpPr txBox="1"/>
          <p:nvPr/>
        </p:nvSpPr>
        <p:spPr>
          <a:xfrm>
            <a:off x="512064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Egen jämförelse på en miljon rader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Fyra begrepp bakom hastigheten</a:t>
            </a:r>
            <a:endParaRPr lang="en-US" sz="3200" dirty="0"/>
          </a:p>
        </p:txBody>
      </p:sp>
      <p:sp>
        <p:nvSpPr>
          <p:cNvPr id="3" name="Kort 1"/>
          <p:cNvSpPr/>
          <p:nvPr/>
        </p:nvSpPr>
        <p:spPr>
          <a:xfrm>
            <a:off x="548640" y="137160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Begrepp rubrik 1"/>
          <p:cNvSpPr txBox="1"/>
          <p:nvPr/>
        </p:nvSpPr>
        <p:spPr>
          <a:xfrm>
            <a:off x="796413" y="1600200"/>
            <a:ext cx="3455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Kolumnbaserad lagring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Begrepp text 1"/>
          <p:cNvSpPr txBox="1"/>
          <p:nvPr/>
        </p:nvSpPr>
        <p:spPr>
          <a:xfrm>
            <a:off x="796413" y="2088372"/>
            <a:ext cx="3455547" cy="51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Data lagras per kolumn (Apache Arrow)</a:t>
            </a:r>
            <a:endParaRPr lang="en-US" sz="1600" dirty="0"/>
          </a:p>
        </p:txBody>
      </p:sp>
      <p:sp>
        <p:nvSpPr>
          <p:cNvPr id="8" name="Kort 2"/>
          <p:cNvSpPr/>
          <p:nvPr/>
        </p:nvSpPr>
        <p:spPr>
          <a:xfrm>
            <a:off x="4754880" y="137160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Begrepp rubrik 2"/>
          <p:cNvSpPr txBox="1"/>
          <p:nvPr/>
        </p:nvSpPr>
        <p:spPr>
          <a:xfrm>
            <a:off x="5002653" y="1600200"/>
            <a:ext cx="3455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Multi-threading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2" name="Begrepp text 2"/>
          <p:cNvSpPr txBox="1"/>
          <p:nvPr/>
        </p:nvSpPr>
        <p:spPr>
          <a:xfrm>
            <a:off x="5002653" y="2088372"/>
            <a:ext cx="3455547" cy="51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Flera CPU-kärnor används automatiskt</a:t>
            </a:r>
            <a:endParaRPr lang="en-US" sz="1600" dirty="0"/>
          </a:p>
        </p:txBody>
      </p:sp>
      <p:sp>
        <p:nvSpPr>
          <p:cNvPr id="13" name="Kort 3"/>
          <p:cNvSpPr/>
          <p:nvPr/>
        </p:nvSpPr>
        <p:spPr>
          <a:xfrm>
            <a:off x="54864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Begrepp rubrik 3"/>
          <p:cNvSpPr txBox="1"/>
          <p:nvPr/>
        </p:nvSpPr>
        <p:spPr>
          <a:xfrm>
            <a:off x="796413" y="3246120"/>
            <a:ext cx="3455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Lazy evaluation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7" name="Begrepp text 3"/>
          <p:cNvSpPr txBox="1"/>
          <p:nvPr/>
        </p:nvSpPr>
        <p:spPr>
          <a:xfrm>
            <a:off x="796413" y="3657600"/>
            <a:ext cx="34555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Bygger en plan som optimeras före körning</a:t>
            </a:r>
            <a:endParaRPr lang="en-US" sz="1600" dirty="0"/>
          </a:p>
        </p:txBody>
      </p:sp>
      <p:sp>
        <p:nvSpPr>
          <p:cNvPr id="18" name="Kort 4"/>
          <p:cNvSpPr/>
          <p:nvPr/>
        </p:nvSpPr>
        <p:spPr>
          <a:xfrm>
            <a:off x="475488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Begrepp rubrik 4"/>
          <p:cNvSpPr txBox="1"/>
          <p:nvPr/>
        </p:nvSpPr>
        <p:spPr>
          <a:xfrm>
            <a:off x="5002653" y="3246120"/>
            <a:ext cx="3455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Striktare typning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2" name="Begrepp text 4"/>
          <p:cNvSpPr txBox="1"/>
          <p:nvPr/>
        </p:nvSpPr>
        <p:spPr>
          <a:xfrm>
            <a:off x="5002653" y="3698894"/>
            <a:ext cx="3455547" cy="553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Tydligare datatyper, färre överraskningar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Vad jag byggde</a:t>
            </a:r>
            <a:endParaRPr lang="en-US" sz="3200" dirty="0"/>
          </a:p>
        </p:txBody>
      </p:sp>
      <p:sp>
        <p:nvSpPr>
          <p:cNvPr id="3" name="Statkort 1"/>
          <p:cNvSpPr/>
          <p:nvPr/>
        </p:nvSpPr>
        <p:spPr>
          <a:xfrm>
            <a:off x="548640" y="137160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tat tal 1"/>
          <p:cNvSpPr txBox="1"/>
          <p:nvPr/>
        </p:nvSpPr>
        <p:spPr>
          <a:xfrm>
            <a:off x="777240" y="1444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5 475</a:t>
            </a:r>
            <a:endParaRPr lang="en-US" sz="3000" dirty="0"/>
          </a:p>
        </p:txBody>
      </p:sp>
      <p:sp>
        <p:nvSpPr>
          <p:cNvPr id="5" name="Stat text 1"/>
          <p:cNvSpPr txBox="1"/>
          <p:nvPr/>
        </p:nvSpPr>
        <p:spPr>
          <a:xfrm>
            <a:off x="777240" y="1883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rader syntetisk eldata</a:t>
            </a:r>
            <a:endParaRPr lang="en-US" sz="1400" dirty="0"/>
          </a:p>
        </p:txBody>
      </p:sp>
      <p:sp>
        <p:nvSpPr>
          <p:cNvPr id="6" name="Statkort 2"/>
          <p:cNvSpPr/>
          <p:nvPr/>
        </p:nvSpPr>
        <p:spPr>
          <a:xfrm>
            <a:off x="548640" y="246888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Stat tal 2"/>
          <p:cNvSpPr txBox="1"/>
          <p:nvPr/>
        </p:nvSpPr>
        <p:spPr>
          <a:xfrm>
            <a:off x="777240" y="25420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5</a:t>
            </a:r>
            <a:endParaRPr lang="en-US" sz="3000" dirty="0"/>
          </a:p>
        </p:txBody>
      </p:sp>
      <p:sp>
        <p:nvSpPr>
          <p:cNvPr id="8" name="Stat text 2"/>
          <p:cNvSpPr txBox="1"/>
          <p:nvPr/>
        </p:nvSpPr>
        <p:spPr>
          <a:xfrm>
            <a:off x="777240" y="29809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städer under 2025</a:t>
            </a:r>
            <a:endParaRPr lang="en-US" sz="1400" dirty="0"/>
          </a:p>
        </p:txBody>
      </p:sp>
      <p:sp>
        <p:nvSpPr>
          <p:cNvPr id="9" name="Statkort 3"/>
          <p:cNvSpPr/>
          <p:nvPr/>
        </p:nvSpPr>
        <p:spPr>
          <a:xfrm>
            <a:off x="548640" y="356616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tat tal 3"/>
          <p:cNvSpPr txBox="1"/>
          <p:nvPr/>
        </p:nvSpPr>
        <p:spPr>
          <a:xfrm>
            <a:off x="777240" y="36393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Stat text 3"/>
          <p:cNvSpPr txBox="1"/>
          <p:nvPr/>
        </p:nvSpPr>
        <p:spPr>
          <a:xfrm>
            <a:off x="77724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sektorer</a:t>
            </a:r>
            <a:endParaRPr lang="en-US" sz="1400" dirty="0"/>
          </a:p>
        </p:txBody>
      </p:sp>
      <p:sp>
        <p:nvSpPr>
          <p:cNvPr id="13" name="Stegnummer 1"/>
          <p:cNvSpPr txBox="1"/>
          <p:nvPr/>
        </p:nvSpPr>
        <p:spPr>
          <a:xfrm>
            <a:off x="3922776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1.</a:t>
            </a:r>
            <a:endParaRPr lang="en-US" dirty="0"/>
          </a:p>
        </p:txBody>
      </p:sp>
      <p:sp>
        <p:nvSpPr>
          <p:cNvPr id="14" name="Steg 1"/>
          <p:cNvSpPr txBox="1"/>
          <p:nvPr/>
        </p:nvSpPr>
        <p:spPr>
          <a:xfrm>
            <a:off x="4480560" y="13716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Läsa in data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read_csv()</a:t>
            </a:r>
            <a:endParaRPr lang="en-US" sz="1600" dirty="0"/>
          </a:p>
        </p:txBody>
      </p:sp>
      <p:sp>
        <p:nvSpPr>
          <p:cNvPr id="16" name="Stegnummer 2"/>
          <p:cNvSpPr txBox="1"/>
          <p:nvPr/>
        </p:nvSpPr>
        <p:spPr>
          <a:xfrm>
            <a:off x="3932215" y="19355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2.</a:t>
            </a:r>
            <a:endParaRPr lang="en-US" dirty="0"/>
          </a:p>
        </p:txBody>
      </p:sp>
      <p:sp>
        <p:nvSpPr>
          <p:cNvPr id="17" name="Steg 2"/>
          <p:cNvSpPr txBox="1"/>
          <p:nvPr/>
        </p:nvSpPr>
        <p:spPr>
          <a:xfrm>
            <a:off x="4480560" y="19385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Filtrera och sortera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filter(), sort()</a:t>
            </a:r>
            <a:endParaRPr lang="en-US" sz="1600" dirty="0"/>
          </a:p>
        </p:txBody>
      </p:sp>
      <p:sp>
        <p:nvSpPr>
          <p:cNvPr id="19" name="Stegnummer 3"/>
          <p:cNvSpPr txBox="1"/>
          <p:nvPr/>
        </p:nvSpPr>
        <p:spPr>
          <a:xfrm>
            <a:off x="3922776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3.</a:t>
            </a:r>
            <a:endParaRPr lang="en-US" dirty="0"/>
          </a:p>
        </p:txBody>
      </p:sp>
      <p:sp>
        <p:nvSpPr>
          <p:cNvPr id="20" name="Steg 3"/>
          <p:cNvSpPr txBox="1"/>
          <p:nvPr/>
        </p:nvSpPr>
        <p:spPr>
          <a:xfrm>
            <a:off x="4480560" y="250545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Nya kolumner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with_columns()</a:t>
            </a:r>
            <a:endParaRPr lang="en-US" sz="1600" dirty="0"/>
          </a:p>
        </p:txBody>
      </p:sp>
      <p:sp>
        <p:nvSpPr>
          <p:cNvPr id="22" name="Stegnummer 4"/>
          <p:cNvSpPr txBox="1"/>
          <p:nvPr/>
        </p:nvSpPr>
        <p:spPr>
          <a:xfrm>
            <a:off x="3922776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4.</a:t>
            </a:r>
            <a:endParaRPr lang="en-US" dirty="0"/>
          </a:p>
        </p:txBody>
      </p:sp>
      <p:sp>
        <p:nvSpPr>
          <p:cNvPr id="23" name="Steg 4"/>
          <p:cNvSpPr txBox="1"/>
          <p:nvPr/>
        </p:nvSpPr>
        <p:spPr>
          <a:xfrm>
            <a:off x="4480560" y="307238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Gruppera och summera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group_by().agg()</a:t>
            </a:r>
            <a:endParaRPr lang="en-US" sz="1600" dirty="0"/>
          </a:p>
        </p:txBody>
      </p:sp>
      <p:sp>
        <p:nvSpPr>
          <p:cNvPr id="25" name="Stegnummer 5"/>
          <p:cNvSpPr txBox="1"/>
          <p:nvPr/>
        </p:nvSpPr>
        <p:spPr>
          <a:xfrm>
            <a:off x="392277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5.</a:t>
            </a:r>
            <a:endParaRPr lang="en-US" dirty="0"/>
          </a:p>
        </p:txBody>
      </p:sp>
      <p:sp>
        <p:nvSpPr>
          <p:cNvPr id="26" name="Steg 5"/>
          <p:cNvSpPr txBox="1"/>
          <p:nvPr/>
        </p:nvSpPr>
        <p:spPr>
          <a:xfrm>
            <a:off x="4480560" y="36393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Lazy evaluation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scan_csv(), collect()</a:t>
            </a:r>
            <a:endParaRPr lang="en-US" sz="1600" dirty="0"/>
          </a:p>
        </p:txBody>
      </p:sp>
      <p:sp>
        <p:nvSpPr>
          <p:cNvPr id="28" name="Stegnummer 6"/>
          <p:cNvSpPr txBox="1"/>
          <p:nvPr/>
        </p:nvSpPr>
        <p:spPr>
          <a:xfrm>
            <a:off x="3932215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6.</a:t>
            </a:r>
            <a:endParaRPr lang="en-US" dirty="0"/>
          </a:p>
        </p:txBody>
      </p:sp>
      <p:sp>
        <p:nvSpPr>
          <p:cNvPr id="29" name="Steg 6"/>
          <p:cNvSpPr txBox="1"/>
          <p:nvPr/>
        </p:nvSpPr>
        <p:spPr>
          <a:xfrm>
            <a:off x="4480560" y="42062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Jämföra mot Pandas  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miljon rader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Samma uppgift, två bibliotek</a:t>
            </a:r>
            <a:endParaRPr lang="en-US" sz="3200" dirty="0"/>
          </a:p>
        </p:txBody>
      </p:sp>
      <p:sp>
        <p:nvSpPr>
          <p:cNvPr id="3" name="Polars-kort"/>
          <p:cNvSpPr/>
          <p:nvPr/>
        </p:nvSpPr>
        <p:spPr>
          <a:xfrm>
            <a:off x="548640" y="1325880"/>
            <a:ext cx="4937760" cy="1600200"/>
          </a:xfrm>
          <a:prstGeom prst="roundRect">
            <a:avLst>
              <a:gd name="adj" fmla="val 5714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Polars-etikett"/>
          <p:cNvSpPr txBox="1"/>
          <p:nvPr/>
        </p:nvSpPr>
        <p:spPr>
          <a:xfrm>
            <a:off x="7772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POLARS</a:t>
            </a:r>
            <a:endParaRPr lang="en-US" sz="1200" dirty="0"/>
          </a:p>
        </p:txBody>
      </p:sp>
      <p:sp>
        <p:nvSpPr>
          <p:cNvPr id="5" name="Polars-kod"/>
          <p:cNvSpPr txBox="1"/>
          <p:nvPr/>
        </p:nvSpPr>
        <p:spPr>
          <a:xfrm>
            <a:off x="777240" y="1737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df.group_by("region")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.agg(pl.col("forbrukning_kwh")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.sum().alias("total_kwh"))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.sort("total_kwh", descending=True)</a:t>
            </a:r>
            <a:endParaRPr lang="en-US" sz="1200" dirty="0"/>
          </a:p>
        </p:txBody>
      </p:sp>
      <p:sp>
        <p:nvSpPr>
          <p:cNvPr id="6" name="Pandas-kort"/>
          <p:cNvSpPr/>
          <p:nvPr/>
        </p:nvSpPr>
        <p:spPr>
          <a:xfrm>
            <a:off x="548640" y="3063240"/>
            <a:ext cx="4937760" cy="1600200"/>
          </a:xfrm>
          <a:prstGeom prst="roundRect">
            <a:avLst>
              <a:gd name="adj" fmla="val 5714"/>
            </a:avLst>
          </a:prstGeom>
          <a:solidFill>
            <a:schemeClr val="accent5">
              <a:lumMod val="75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Pandas-etikett"/>
          <p:cNvSpPr txBox="1"/>
          <p:nvPr/>
        </p:nvSpPr>
        <p:spPr>
          <a:xfrm>
            <a:off x="7772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</a:rPr>
              <a:t>PANDAS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8" name="Pandas-kod"/>
          <p:cNvSpPr txBox="1"/>
          <p:nvPr/>
        </p:nvSpPr>
        <p:spPr>
          <a:xfrm>
            <a:off x="777240" y="3474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df.groupby("region")["forbrukning_kwh"]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.reset_index(name="total_kwh")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.sort_values("total_kwh", ascending=False)</a:t>
            </a:r>
            <a:endParaRPr lang="en-US" sz="1200" dirty="0"/>
          </a:p>
        </p:txBody>
      </p:sp>
      <p:sp>
        <p:nvSpPr>
          <p:cNvPr id="9" name="Tabellrubrik"/>
          <p:cNvSpPr txBox="1"/>
          <p:nvPr/>
        </p:nvSpPr>
        <p:spPr>
          <a:xfrm>
            <a:off x="576072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förbrukning per region</a:t>
            </a:r>
            <a:endParaRPr lang="en-US" sz="1400" dirty="0"/>
          </a:p>
        </p:txBody>
      </p:sp>
      <p:graphicFrame>
        <p:nvGraphicFramePr>
          <p:cNvPr id="10" name="Regiontabe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421051"/>
              </p:ext>
            </p:extLst>
          </p:nvPr>
        </p:nvGraphicFramePr>
        <p:xfrm>
          <a:off x="5760720" y="1737360"/>
          <a:ext cx="2834640" cy="208483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kWh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Stockholm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470 684,5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Göteborg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401 241,0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Malmö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363 570,1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Uppsala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218 410,6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Umeå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182 051,4</a:t>
                      </a:r>
                      <a:endParaRPr lang="en-US" sz="13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abellnot"/>
          <p:cNvSpPr txBox="1"/>
          <p:nvPr/>
        </p:nvSpPr>
        <p:spPr>
          <a:xfrm>
            <a:off x="5760720" y="4247534"/>
            <a:ext cx="2834640" cy="27874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Samma </a:t>
            </a:r>
            <a:r>
              <a:rPr lang="en-US" sz="1400" i="1" dirty="0" err="1">
                <a:solidFill>
                  <a:schemeClr val="tx2"/>
                </a:solidFill>
              </a:rPr>
              <a:t>resultat</a:t>
            </a:r>
            <a:r>
              <a:rPr lang="en-US" sz="1400" i="1" dirty="0">
                <a:solidFill>
                  <a:schemeClr val="tx2"/>
                </a:solidFill>
              </a:rPr>
              <a:t> I </a:t>
            </a:r>
            <a:r>
              <a:rPr lang="en-US" sz="1400" i="1" dirty="0" err="1">
                <a:solidFill>
                  <a:schemeClr val="tx2"/>
                </a:solidFill>
              </a:rPr>
              <a:t>båda</a:t>
            </a:r>
            <a:r>
              <a:rPr lang="en-US" sz="1400" i="1" dirty="0">
                <a:solidFill>
                  <a:schemeClr val="tx2"/>
                </a:solidFill>
              </a:rPr>
              <a:t> </a:t>
            </a:r>
            <a:r>
              <a:rPr lang="en-US" sz="1400" i="1" dirty="0" err="1">
                <a:solidFill>
                  <a:schemeClr val="tx2"/>
                </a:solidFill>
              </a:rPr>
              <a:t>biblioteken</a:t>
            </a:r>
            <a:r>
              <a:rPr lang="en-US" sz="1400" i="1" dirty="0">
                <a:solidFill>
                  <a:schemeClr val="tx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Prestanda på en miljon rader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7728510"/>
              </p:ext>
            </p:extLst>
          </p:nvPr>
        </p:nvGraphicFramePr>
        <p:xfrm>
          <a:off x="548640" y="128016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nabbhetskort 1"/>
          <p:cNvSpPr/>
          <p:nvPr/>
        </p:nvSpPr>
        <p:spPr>
          <a:xfrm>
            <a:off x="5760720" y="137160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Snabbhet tal 1"/>
          <p:cNvSpPr txBox="1"/>
          <p:nvPr/>
        </p:nvSpPr>
        <p:spPr>
          <a:xfrm>
            <a:off x="594360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2,3×</a:t>
            </a:r>
            <a:endParaRPr lang="en-US" sz="3200" dirty="0"/>
          </a:p>
        </p:txBody>
      </p:sp>
      <p:sp>
        <p:nvSpPr>
          <p:cNvPr id="6" name="Snabbhet text 1"/>
          <p:cNvSpPr txBox="1"/>
          <p:nvPr/>
        </p:nvSpPr>
        <p:spPr>
          <a:xfrm>
            <a:off x="5943600" y="1901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Polars eager mot Pandas</a:t>
            </a:r>
            <a:endParaRPr lang="en-US" sz="1400" dirty="0"/>
          </a:p>
        </p:txBody>
      </p:sp>
      <p:sp>
        <p:nvSpPr>
          <p:cNvPr id="7" name="Snabbhetskort 2"/>
          <p:cNvSpPr/>
          <p:nvPr/>
        </p:nvSpPr>
        <p:spPr>
          <a:xfrm>
            <a:off x="5760720" y="246888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Snabbhet tal 2"/>
          <p:cNvSpPr txBox="1"/>
          <p:nvPr/>
        </p:nvSpPr>
        <p:spPr>
          <a:xfrm>
            <a:off x="594360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2,6×</a:t>
            </a:r>
            <a:endParaRPr lang="en-US" sz="3200" dirty="0"/>
          </a:p>
        </p:txBody>
      </p:sp>
      <p:sp>
        <p:nvSpPr>
          <p:cNvPr id="9" name="Snabbhet text 2"/>
          <p:cNvSpPr txBox="1"/>
          <p:nvPr/>
        </p:nvSpPr>
        <p:spPr>
          <a:xfrm>
            <a:off x="5943600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Polars lazy mot Pandas</a:t>
            </a:r>
            <a:endParaRPr lang="en-US" sz="1400" dirty="0"/>
          </a:p>
        </p:txBody>
      </p:sp>
      <p:sp>
        <p:nvSpPr>
          <p:cNvPr id="10" name="Notkort"/>
          <p:cNvSpPr/>
          <p:nvPr/>
        </p:nvSpPr>
        <p:spPr>
          <a:xfrm>
            <a:off x="5760720" y="3611880"/>
            <a:ext cx="2834640" cy="1051560"/>
          </a:xfrm>
          <a:prstGeom prst="roundRect">
            <a:avLst>
              <a:gd name="adj" fmla="val 10435"/>
            </a:avLst>
          </a:prstGeom>
          <a:solidFill>
            <a:schemeClr val="tx1">
              <a:lumMod val="25000"/>
              <a:lumOff val="7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Not"/>
          <p:cNvSpPr txBox="1"/>
          <p:nvPr/>
        </p:nvSpPr>
        <p:spPr>
          <a:xfrm>
            <a:off x="594360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/>
              <a:t>Obs</a:t>
            </a:r>
            <a:r>
              <a:rPr lang="en-US" sz="1400" dirty="0"/>
              <a:t>: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körning</a:t>
            </a:r>
            <a:r>
              <a:rPr lang="en-US" sz="1400" dirty="0"/>
              <a:t> per variant </a:t>
            </a:r>
            <a:r>
              <a:rPr lang="en-US" sz="1400" dirty="0" err="1"/>
              <a:t>på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min </a:t>
            </a:r>
            <a:r>
              <a:rPr lang="en-US" sz="1400" dirty="0" err="1"/>
              <a:t>dator</a:t>
            </a:r>
            <a:r>
              <a:rPr lang="en-US" sz="1400" dirty="0"/>
              <a:t>. </a:t>
            </a:r>
            <a:r>
              <a:rPr lang="en-US" sz="1400" dirty="0" err="1"/>
              <a:t>Inget</a:t>
            </a:r>
            <a:r>
              <a:rPr lang="en-US" sz="1400" dirty="0"/>
              <a:t> </a:t>
            </a:r>
            <a:r>
              <a:rPr lang="en-US" sz="1400" dirty="0" err="1"/>
              <a:t>exakt</a:t>
            </a:r>
            <a:r>
              <a:rPr lang="en-US" sz="1400" dirty="0"/>
              <a:t> benchmark.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0F0"/>
                </a:solidFill>
              </a:rPr>
              <a:t>Vad jag tar med mig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Kolumnkort 1"/>
          <p:cNvSpPr/>
          <p:nvPr/>
        </p:nvSpPr>
        <p:spPr>
          <a:xfrm>
            <a:off x="548640" y="1325880"/>
            <a:ext cx="3840480" cy="2286000"/>
          </a:xfrm>
          <a:prstGeom prst="roundRect">
            <a:avLst>
              <a:gd name="adj" fmla="val 4800"/>
            </a:avLst>
          </a:prstGeom>
          <a:solidFill>
            <a:schemeClr val="accent2">
              <a:lumMod val="75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sv-SE" dirty="0"/>
          </a:p>
        </p:txBody>
      </p:sp>
      <p:sp>
        <p:nvSpPr>
          <p:cNvPr id="6" name="Kolumnrubrik 1"/>
          <p:cNvSpPr txBox="1"/>
          <p:nvPr/>
        </p:nvSpPr>
        <p:spPr>
          <a:xfrm>
            <a:off x="1120140" y="148221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Begränsningar</a:t>
            </a:r>
            <a:endParaRPr lang="en-US" sz="1800" dirty="0"/>
          </a:p>
        </p:txBody>
      </p:sp>
      <p:sp>
        <p:nvSpPr>
          <p:cNvPr id="7" name="Kolumnpunkter 1"/>
          <p:cNvSpPr txBox="1"/>
          <p:nvPr/>
        </p:nvSpPr>
        <p:spPr>
          <a:xfrm>
            <a:off x="777240" y="219456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Syntetisk data, inte verklig förbrukning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Varje test kördes bara en gång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Jag höll mig till grunderna i Polars</a:t>
            </a:r>
            <a:endParaRPr lang="en-US" sz="1500" dirty="0"/>
          </a:p>
        </p:txBody>
      </p:sp>
      <p:sp>
        <p:nvSpPr>
          <p:cNvPr id="8" name="Kolumnkort 2"/>
          <p:cNvSpPr/>
          <p:nvPr/>
        </p:nvSpPr>
        <p:spPr>
          <a:xfrm>
            <a:off x="4754880" y="1325880"/>
            <a:ext cx="3840480" cy="2286000"/>
          </a:xfrm>
          <a:prstGeom prst="roundRect">
            <a:avLst>
              <a:gd name="adj" fmla="val 4800"/>
            </a:avLst>
          </a:prstGeom>
          <a:solidFill>
            <a:schemeClr val="accent2">
              <a:lumMod val="75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sv-SE" dirty="0"/>
          </a:p>
        </p:txBody>
      </p:sp>
      <p:sp>
        <p:nvSpPr>
          <p:cNvPr id="11" name="Kolumnrubrik 2"/>
          <p:cNvSpPr txBox="1"/>
          <p:nvPr/>
        </p:nvSpPr>
        <p:spPr>
          <a:xfrm>
            <a:off x="532638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Koppling till yrkesrollen</a:t>
            </a:r>
            <a:endParaRPr lang="en-US" sz="1800" dirty="0"/>
          </a:p>
        </p:txBody>
      </p:sp>
      <p:sp>
        <p:nvSpPr>
          <p:cNvPr id="12" name="Kolumnpunkter 2"/>
          <p:cNvSpPr txBox="1"/>
          <p:nvPr/>
        </p:nvSpPr>
        <p:spPr>
          <a:xfrm>
            <a:off x="4983480" y="219456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Mätdata från elnätet blir snabbt stor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Bra att kunna både Pandas och Polars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Nästa steg: riktig öppen data och streaming</a:t>
            </a:r>
            <a:endParaRPr lang="en-US" sz="1500" dirty="0"/>
          </a:p>
        </p:txBody>
      </p:sp>
      <p:sp>
        <p:nvSpPr>
          <p:cNvPr id="13" name="Tack"/>
          <p:cNvSpPr txBox="1"/>
          <p:nvPr/>
        </p:nvSpPr>
        <p:spPr>
          <a:xfrm>
            <a:off x="54864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Tack! Frågor?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s Spanning">
  <a:themeElements>
    <a:clrScheme name="Polars Spanning">
      <a:dk1>
        <a:srgbClr val="14213D"/>
      </a:dk1>
      <a:lt1>
        <a:srgbClr val="FFFFFF"/>
      </a:lt1>
      <a:dk2>
        <a:srgbClr val="22345E"/>
      </a:dk2>
      <a:lt2>
        <a:srgbClr val="F1F3F8"/>
      </a:lt2>
      <a:accent1>
        <a:srgbClr val="FCA311"/>
      </a:accent1>
      <a:accent2>
        <a:srgbClr val="5C6B8A"/>
      </a:accent2>
      <a:accent3>
        <a:srgbClr val="D98200"/>
      </a:accent3>
      <a:accent4>
        <a:srgbClr val="8D99AE"/>
      </a:accent4>
      <a:accent5>
        <a:srgbClr val="2A9D8F"/>
      </a:accent5>
      <a:accent6>
        <a:srgbClr val="FFD166"/>
      </a:accent6>
      <a:hlink>
        <a:srgbClr val="3B82F6"/>
      </a:hlink>
      <a:folHlink>
        <a:srgbClr val="8D99AE"/>
      </a:folHlink>
    </a:clrScheme>
    <a:fontScheme name="Polars Span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406</Words>
  <Application>Microsoft Office PowerPoint</Application>
  <PresentationFormat>Bildspel på skärmen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Polars Spanning</vt:lpstr>
      <vt:lpstr>Fördjupning i Polars</vt:lpstr>
      <vt:lpstr>Varför Polars?</vt:lpstr>
      <vt:lpstr>Fyra begrepp bakom hastigheten</vt:lpstr>
      <vt:lpstr>Vad jag byggde</vt:lpstr>
      <vt:lpstr>Samma uppgift, två bibliotek</vt:lpstr>
      <vt:lpstr>Prestanda på en miljon rader</vt:lpstr>
      <vt:lpstr>Vad jag tar med mig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Fördjupning i Polars</dc:title>
  <dc:subject>PptxGenJS Presentation</dc:subject>
  <dc:creator>Kim</dc:creator>
  <cp:lastModifiedBy>Irfan Pallani</cp:lastModifiedBy>
  <cp:revision>2</cp:revision>
  <dcterms:created xsi:type="dcterms:W3CDTF">2026-10-06T18:17:05Z</dcterms:created>
  <dcterms:modified xsi:type="dcterms:W3CDTF">2026-10-06T20:31:56Z</dcterms:modified>
</cp:coreProperties>
</file>